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3891200" cx="43891200"/>
  <p:notesSz cx="42643425" cy="321008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 roundtripDataSignature="AMtx7mi24ub1twfi+dGIjp8sVmvhEyvr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E552D3-1F85-4906-A1E6-860F83AD6C01}">
  <a:tblStyle styleId="{B1E552D3-1F85-4906-A1E6-860F83AD6C0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108650" y="2407550"/>
            <a:ext cx="28430350" cy="1203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264325" y="15247875"/>
            <a:ext cx="34114725" cy="144453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4264325" y="15247875"/>
            <a:ext cx="34114725" cy="144453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7108650" y="2407550"/>
            <a:ext cx="28430350" cy="1203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291840" y="13634723"/>
            <a:ext cx="37307520" cy="940816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6583680" y="24871680"/>
            <a:ext cx="30723840" cy="11216640"/>
          </a:xfrm>
          <a:prstGeom prst="rect">
            <a:avLst/>
          </a:prstGeom>
          <a:noFill/>
          <a:ln>
            <a:noFill/>
          </a:ln>
        </p:spPr>
        <p:txBody>
          <a:bodyPr anchorCtr="0" anchor="t" bIns="219450" lIns="438900" spcFirstLastPara="1" rIns="438900" wrap="square" tIns="219450">
            <a:normAutofit/>
          </a:bodyPr>
          <a:lstStyle>
            <a:lvl1pPr lvl="0" algn="ctr">
              <a:spcBef>
                <a:spcPts val="3080"/>
              </a:spcBef>
              <a:spcAft>
                <a:spcPts val="0"/>
              </a:spcAft>
              <a:buClr>
                <a:srgbClr val="888888"/>
              </a:buClr>
              <a:buSzPts val="15400"/>
              <a:buNone/>
              <a:defRPr>
                <a:solidFill>
                  <a:srgbClr val="888888"/>
                </a:solidFill>
              </a:defRPr>
            </a:lvl1pPr>
            <a:lvl2pPr lvl="1" algn="ctr">
              <a:spcBef>
                <a:spcPts val="268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500"/>
              <a:buNone/>
              <a:defRPr>
                <a:solidFill>
                  <a:srgbClr val="888888"/>
                </a:solidFill>
              </a:defRPr>
            </a:lvl3pPr>
            <a:lvl4pPr lvl="3" algn="ctr">
              <a:spcBef>
                <a:spcPts val="1920"/>
              </a:spcBef>
              <a:spcAft>
                <a:spcPts val="0"/>
              </a:spcAft>
              <a:buClr>
                <a:srgbClr val="888888"/>
              </a:buClr>
              <a:buSzPts val="9600"/>
              <a:buNone/>
              <a:defRPr>
                <a:solidFill>
                  <a:srgbClr val="888888"/>
                </a:solidFill>
              </a:defRPr>
            </a:lvl4pPr>
            <a:lvl5pPr lvl="4" algn="ctr">
              <a:spcBef>
                <a:spcPts val="1920"/>
              </a:spcBef>
              <a:spcAft>
                <a:spcPts val="0"/>
              </a:spcAft>
              <a:buClr>
                <a:srgbClr val="888888"/>
              </a:buClr>
              <a:buSzPts val="9600"/>
              <a:buNone/>
              <a:defRPr>
                <a:solidFill>
                  <a:srgbClr val="888888"/>
                </a:solidFill>
              </a:defRPr>
            </a:lvl5pPr>
            <a:lvl6pPr lvl="5" algn="ctr">
              <a:spcBef>
                <a:spcPts val="1920"/>
              </a:spcBef>
              <a:spcAft>
                <a:spcPts val="0"/>
              </a:spcAft>
              <a:buClr>
                <a:srgbClr val="888888"/>
              </a:buClr>
              <a:buSzPts val="9600"/>
              <a:buNone/>
              <a:defRPr>
                <a:solidFill>
                  <a:srgbClr val="888888"/>
                </a:solidFill>
              </a:defRPr>
            </a:lvl6pPr>
            <a:lvl7pPr lvl="6" algn="ctr">
              <a:spcBef>
                <a:spcPts val="1920"/>
              </a:spcBef>
              <a:spcAft>
                <a:spcPts val="0"/>
              </a:spcAft>
              <a:buClr>
                <a:srgbClr val="888888"/>
              </a:buClr>
              <a:buSzPts val="9600"/>
              <a:buNone/>
              <a:defRPr>
                <a:solidFill>
                  <a:srgbClr val="888888"/>
                </a:solidFill>
              </a:defRPr>
            </a:lvl7pPr>
            <a:lvl8pPr lvl="7" algn="ctr">
              <a:spcBef>
                <a:spcPts val="1920"/>
              </a:spcBef>
              <a:spcAft>
                <a:spcPts val="0"/>
              </a:spcAft>
              <a:buClr>
                <a:srgbClr val="888888"/>
              </a:buClr>
              <a:buSzPts val="9600"/>
              <a:buNone/>
              <a:defRPr>
                <a:solidFill>
                  <a:srgbClr val="888888"/>
                </a:solidFill>
              </a:defRPr>
            </a:lvl8pPr>
            <a:lvl9pPr lvl="8" algn="ctr">
              <a:spcBef>
                <a:spcPts val="1920"/>
              </a:spcBef>
              <a:spcAft>
                <a:spcPts val="0"/>
              </a:spcAft>
              <a:buClr>
                <a:srgbClr val="888888"/>
              </a:buClr>
              <a:buSzPts val="9600"/>
              <a:buNone/>
              <a:defRPr>
                <a:solidFill>
                  <a:srgbClr val="888888"/>
                </a:solidFill>
              </a:defRPr>
            </a:lvl9pPr>
          </a:lstStyle>
          <a:p/>
        </p:txBody>
      </p:sp>
      <p:sp>
        <p:nvSpPr>
          <p:cNvPr id="14" name="Google Shape;14;p3"/>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2194560" y="10241285"/>
            <a:ext cx="39502080" cy="28966163"/>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3467101" y="28204163"/>
            <a:ext cx="37307520" cy="8717280"/>
          </a:xfrm>
          <a:prstGeom prst="rect">
            <a:avLst/>
          </a:prstGeom>
          <a:noFill/>
          <a:ln>
            <a:noFill/>
          </a:ln>
        </p:spPr>
        <p:txBody>
          <a:bodyPr anchorCtr="0" anchor="t" bIns="219450" lIns="438900" spcFirstLastPara="1" rIns="438900" wrap="square" tIns="219450">
            <a:normAutofit/>
          </a:bodyPr>
          <a:lstStyle>
            <a:lvl1pPr lvl="0" algn="l">
              <a:spcBef>
                <a:spcPts val="0"/>
              </a:spcBef>
              <a:spcAft>
                <a:spcPts val="0"/>
              </a:spcAft>
              <a:buClr>
                <a:schemeClr val="dk1"/>
              </a:buClr>
              <a:buSzPts val="19199"/>
              <a:buFont typeface="Calibri"/>
              <a:buNone/>
              <a:defRPr b="1" sz="19199"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3467101" y="18602968"/>
            <a:ext cx="37307520" cy="9601197"/>
          </a:xfrm>
          <a:prstGeom prst="rect">
            <a:avLst/>
          </a:prstGeom>
          <a:noFill/>
          <a:ln>
            <a:noFill/>
          </a:ln>
        </p:spPr>
        <p:txBody>
          <a:bodyPr anchorCtr="0" anchor="b" bIns="219450" lIns="438900" spcFirstLastPara="1" rIns="438900" wrap="square" tIns="219450">
            <a:normAutofit/>
          </a:bodyPr>
          <a:lstStyle>
            <a:lvl1pPr indent="-228600" lvl="0" marL="457200" algn="l">
              <a:spcBef>
                <a:spcPts val="1920"/>
              </a:spcBef>
              <a:spcAft>
                <a:spcPts val="0"/>
              </a:spcAft>
              <a:buClr>
                <a:srgbClr val="888888"/>
              </a:buClr>
              <a:buSzPts val="9600"/>
              <a:buNone/>
              <a:defRPr sz="9600">
                <a:solidFill>
                  <a:srgbClr val="888888"/>
                </a:solidFill>
              </a:defRPr>
            </a:lvl1pPr>
            <a:lvl2pPr indent="-228600" lvl="1" marL="914400" algn="l">
              <a:spcBef>
                <a:spcPts val="1720"/>
              </a:spcBef>
              <a:spcAft>
                <a:spcPts val="0"/>
              </a:spcAft>
              <a:buClr>
                <a:srgbClr val="888888"/>
              </a:buClr>
              <a:buSzPts val="8600"/>
              <a:buNone/>
              <a:defRPr sz="8600">
                <a:solidFill>
                  <a:srgbClr val="888888"/>
                </a:solidFill>
              </a:defRPr>
            </a:lvl2pPr>
            <a:lvl3pPr indent="-228600" lvl="2" marL="1371600" algn="l">
              <a:spcBef>
                <a:spcPts val="1540"/>
              </a:spcBef>
              <a:spcAft>
                <a:spcPts val="0"/>
              </a:spcAft>
              <a:buClr>
                <a:srgbClr val="888888"/>
              </a:buClr>
              <a:buSzPts val="7700"/>
              <a:buNone/>
              <a:defRPr sz="7700">
                <a:solidFill>
                  <a:srgbClr val="888888"/>
                </a:solidFill>
              </a:defRPr>
            </a:lvl3pPr>
            <a:lvl4pPr indent="-228600" lvl="3" marL="1828800" algn="l">
              <a:spcBef>
                <a:spcPts val="1340"/>
              </a:spcBef>
              <a:spcAft>
                <a:spcPts val="0"/>
              </a:spcAft>
              <a:buClr>
                <a:srgbClr val="888888"/>
              </a:buClr>
              <a:buSzPts val="6700"/>
              <a:buNone/>
              <a:defRPr sz="6700">
                <a:solidFill>
                  <a:srgbClr val="888888"/>
                </a:solidFill>
              </a:defRPr>
            </a:lvl4pPr>
            <a:lvl5pPr indent="-228600" lvl="4" marL="2286000" algn="l">
              <a:spcBef>
                <a:spcPts val="1340"/>
              </a:spcBef>
              <a:spcAft>
                <a:spcPts val="0"/>
              </a:spcAft>
              <a:buClr>
                <a:srgbClr val="888888"/>
              </a:buClr>
              <a:buSzPts val="6700"/>
              <a:buNone/>
              <a:defRPr sz="6700">
                <a:solidFill>
                  <a:srgbClr val="888888"/>
                </a:solidFill>
              </a:defRPr>
            </a:lvl5pPr>
            <a:lvl6pPr indent="-228600" lvl="5" marL="2743200" algn="l">
              <a:spcBef>
                <a:spcPts val="1340"/>
              </a:spcBef>
              <a:spcAft>
                <a:spcPts val="0"/>
              </a:spcAft>
              <a:buClr>
                <a:srgbClr val="888888"/>
              </a:buClr>
              <a:buSzPts val="6700"/>
              <a:buNone/>
              <a:defRPr sz="6700">
                <a:solidFill>
                  <a:srgbClr val="888888"/>
                </a:solidFill>
              </a:defRPr>
            </a:lvl6pPr>
            <a:lvl7pPr indent="-228600" lvl="6" marL="3200400" algn="l">
              <a:spcBef>
                <a:spcPts val="1340"/>
              </a:spcBef>
              <a:spcAft>
                <a:spcPts val="0"/>
              </a:spcAft>
              <a:buClr>
                <a:srgbClr val="888888"/>
              </a:buClr>
              <a:buSzPts val="6700"/>
              <a:buNone/>
              <a:defRPr sz="6700">
                <a:solidFill>
                  <a:srgbClr val="888888"/>
                </a:solidFill>
              </a:defRPr>
            </a:lvl7pPr>
            <a:lvl8pPr indent="-228600" lvl="7" marL="3657600" algn="l">
              <a:spcBef>
                <a:spcPts val="1340"/>
              </a:spcBef>
              <a:spcAft>
                <a:spcPts val="0"/>
              </a:spcAft>
              <a:buClr>
                <a:srgbClr val="888888"/>
              </a:buClr>
              <a:buSzPts val="6700"/>
              <a:buNone/>
              <a:defRPr sz="6700">
                <a:solidFill>
                  <a:srgbClr val="888888"/>
                </a:solidFill>
              </a:defRPr>
            </a:lvl8pPr>
            <a:lvl9pPr indent="-228600" lvl="8" marL="4114800" algn="l">
              <a:spcBef>
                <a:spcPts val="1340"/>
              </a:spcBef>
              <a:spcAft>
                <a:spcPts val="0"/>
              </a:spcAft>
              <a:buClr>
                <a:srgbClr val="888888"/>
              </a:buClr>
              <a:buSzPts val="6700"/>
              <a:buNone/>
              <a:defRPr sz="6700">
                <a:solidFill>
                  <a:srgbClr val="888888"/>
                </a:solidFill>
              </a:defRPr>
            </a:lvl9pPr>
          </a:lstStyle>
          <a:p/>
        </p:txBody>
      </p:sp>
      <p:sp>
        <p:nvSpPr>
          <p:cNvPr id="26" name="Google Shape;26;p5"/>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2194560" y="10241285"/>
            <a:ext cx="19385280" cy="28966163"/>
          </a:xfrm>
          <a:prstGeom prst="rect">
            <a:avLst/>
          </a:prstGeom>
          <a:noFill/>
          <a:ln>
            <a:noFill/>
          </a:ln>
        </p:spPr>
        <p:txBody>
          <a:bodyPr anchorCtr="0" anchor="t" bIns="219450" lIns="438900" spcFirstLastPara="1" rIns="438900" wrap="square" tIns="219450">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32" name="Google Shape;32;p6"/>
          <p:cNvSpPr txBox="1"/>
          <p:nvPr>
            <p:ph idx="2" type="body"/>
          </p:nvPr>
        </p:nvSpPr>
        <p:spPr>
          <a:xfrm>
            <a:off x="22311360" y="10241285"/>
            <a:ext cx="19385280" cy="28966163"/>
          </a:xfrm>
          <a:prstGeom prst="rect">
            <a:avLst/>
          </a:prstGeom>
          <a:noFill/>
          <a:ln>
            <a:noFill/>
          </a:ln>
        </p:spPr>
        <p:txBody>
          <a:bodyPr anchorCtr="0" anchor="t" bIns="219450" lIns="438900" spcFirstLastPara="1" rIns="438900" wrap="square" tIns="219450">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33" name="Google Shape;33;p6"/>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211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2194565" y="9824724"/>
            <a:ext cx="19392903" cy="4094477"/>
          </a:xfrm>
          <a:prstGeom prst="rect">
            <a:avLst/>
          </a:prstGeom>
          <a:noFill/>
          <a:ln>
            <a:noFill/>
          </a:ln>
        </p:spPr>
        <p:txBody>
          <a:bodyPr anchorCtr="0" anchor="b" bIns="219450" lIns="438900" spcFirstLastPara="1" rIns="438900" wrap="square" tIns="219450">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39" name="Google Shape;39;p7"/>
          <p:cNvSpPr txBox="1"/>
          <p:nvPr>
            <p:ph idx="2" type="body"/>
          </p:nvPr>
        </p:nvSpPr>
        <p:spPr>
          <a:xfrm>
            <a:off x="2194565" y="13919201"/>
            <a:ext cx="19392903" cy="25288243"/>
          </a:xfrm>
          <a:prstGeom prst="rect">
            <a:avLst/>
          </a:prstGeom>
          <a:noFill/>
          <a:ln>
            <a:noFill/>
          </a:ln>
        </p:spPr>
        <p:txBody>
          <a:bodyPr anchorCtr="0" anchor="t" bIns="219450" lIns="438900" spcFirstLastPara="1" rIns="438900" wrap="square" tIns="219450">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40" name="Google Shape;40;p7"/>
          <p:cNvSpPr txBox="1"/>
          <p:nvPr>
            <p:ph idx="3" type="body"/>
          </p:nvPr>
        </p:nvSpPr>
        <p:spPr>
          <a:xfrm>
            <a:off x="22296121" y="9824724"/>
            <a:ext cx="19400520" cy="4094477"/>
          </a:xfrm>
          <a:prstGeom prst="rect">
            <a:avLst/>
          </a:prstGeom>
          <a:noFill/>
          <a:ln>
            <a:noFill/>
          </a:ln>
        </p:spPr>
        <p:txBody>
          <a:bodyPr anchorCtr="0" anchor="b" bIns="219450" lIns="438900" spcFirstLastPara="1" rIns="438900" wrap="square" tIns="219450">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41" name="Google Shape;41;p7"/>
          <p:cNvSpPr txBox="1"/>
          <p:nvPr>
            <p:ph idx="4" type="body"/>
          </p:nvPr>
        </p:nvSpPr>
        <p:spPr>
          <a:xfrm>
            <a:off x="22296121" y="13919201"/>
            <a:ext cx="19400520" cy="25288243"/>
          </a:xfrm>
          <a:prstGeom prst="rect">
            <a:avLst/>
          </a:prstGeom>
          <a:noFill/>
          <a:ln>
            <a:noFill/>
          </a:ln>
        </p:spPr>
        <p:txBody>
          <a:bodyPr anchorCtr="0" anchor="t" bIns="219450" lIns="438900" spcFirstLastPara="1" rIns="438900" wrap="square" tIns="219450">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42" name="Google Shape;42;p7"/>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194568" y="1747520"/>
            <a:ext cx="14439903" cy="7437120"/>
          </a:xfrm>
          <a:prstGeom prst="rect">
            <a:avLst/>
          </a:prstGeom>
          <a:noFill/>
          <a:ln>
            <a:noFill/>
          </a:ln>
        </p:spPr>
        <p:txBody>
          <a:bodyPr anchorCtr="0" anchor="b" bIns="219450" lIns="438900" spcFirstLastPara="1" rIns="438900" wrap="square" tIns="219450">
            <a:norm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17160240" y="1747525"/>
            <a:ext cx="24536400" cy="37459923"/>
          </a:xfrm>
          <a:prstGeom prst="rect">
            <a:avLst/>
          </a:prstGeom>
          <a:noFill/>
          <a:ln>
            <a:noFill/>
          </a:ln>
        </p:spPr>
        <p:txBody>
          <a:bodyPr anchorCtr="0" anchor="t" bIns="219450" lIns="438900" spcFirstLastPara="1" rIns="438900" wrap="square" tIns="219450">
            <a:normAutofit/>
          </a:bodyPr>
          <a:lstStyle>
            <a:lvl1pPr indent="-1206500" lvl="0" marL="457200" algn="l">
              <a:spcBef>
                <a:spcPts val="3080"/>
              </a:spcBef>
              <a:spcAft>
                <a:spcPts val="0"/>
              </a:spcAft>
              <a:buClr>
                <a:schemeClr val="dk1"/>
              </a:buClr>
              <a:buSzPts val="15400"/>
              <a:buChar char="•"/>
              <a:defRPr sz="15400"/>
            </a:lvl1pPr>
            <a:lvl2pPr indent="-1079500" lvl="1" marL="914400" algn="l">
              <a:spcBef>
                <a:spcPts val="2680"/>
              </a:spcBef>
              <a:spcAft>
                <a:spcPts val="0"/>
              </a:spcAft>
              <a:buClr>
                <a:schemeClr val="dk1"/>
              </a:buClr>
              <a:buSzPts val="13400"/>
              <a:buChar char="–"/>
              <a:defRPr sz="13400"/>
            </a:lvl2pPr>
            <a:lvl3pPr indent="-958850" lvl="2" marL="1371600" algn="l">
              <a:spcBef>
                <a:spcPts val="2300"/>
              </a:spcBef>
              <a:spcAft>
                <a:spcPts val="0"/>
              </a:spcAft>
              <a:buClr>
                <a:schemeClr val="dk1"/>
              </a:buClr>
              <a:buSzPts val="11500"/>
              <a:buChar char="•"/>
              <a:defRPr sz="11500"/>
            </a:lvl3pPr>
            <a:lvl4pPr indent="-838200" lvl="3" marL="1828800" algn="l">
              <a:spcBef>
                <a:spcPts val="1920"/>
              </a:spcBef>
              <a:spcAft>
                <a:spcPts val="0"/>
              </a:spcAft>
              <a:buClr>
                <a:schemeClr val="dk1"/>
              </a:buClr>
              <a:buSzPts val="9600"/>
              <a:buChar char="–"/>
              <a:defRPr sz="9600"/>
            </a:lvl4pPr>
            <a:lvl5pPr indent="-838200" lvl="4" marL="2286000" algn="l">
              <a:spcBef>
                <a:spcPts val="1920"/>
              </a:spcBef>
              <a:spcAft>
                <a:spcPts val="0"/>
              </a:spcAft>
              <a:buClr>
                <a:schemeClr val="dk1"/>
              </a:buClr>
              <a:buSzPts val="9600"/>
              <a:buChar char="»"/>
              <a:defRPr sz="9600"/>
            </a:lvl5pPr>
            <a:lvl6pPr indent="-838200" lvl="5" marL="2743200" algn="l">
              <a:spcBef>
                <a:spcPts val="1920"/>
              </a:spcBef>
              <a:spcAft>
                <a:spcPts val="0"/>
              </a:spcAft>
              <a:buClr>
                <a:schemeClr val="dk1"/>
              </a:buClr>
              <a:buSzPts val="9600"/>
              <a:buChar char="•"/>
              <a:defRPr sz="9600"/>
            </a:lvl6pPr>
            <a:lvl7pPr indent="-838200" lvl="6" marL="3200400" algn="l">
              <a:spcBef>
                <a:spcPts val="1920"/>
              </a:spcBef>
              <a:spcAft>
                <a:spcPts val="0"/>
              </a:spcAft>
              <a:buClr>
                <a:schemeClr val="dk1"/>
              </a:buClr>
              <a:buSzPts val="9600"/>
              <a:buChar char="•"/>
              <a:defRPr sz="9600"/>
            </a:lvl7pPr>
            <a:lvl8pPr indent="-838200" lvl="7" marL="3657600" algn="l">
              <a:spcBef>
                <a:spcPts val="1920"/>
              </a:spcBef>
              <a:spcAft>
                <a:spcPts val="0"/>
              </a:spcAft>
              <a:buClr>
                <a:schemeClr val="dk1"/>
              </a:buClr>
              <a:buSzPts val="9600"/>
              <a:buChar char="•"/>
              <a:defRPr sz="9600"/>
            </a:lvl8pPr>
            <a:lvl9pPr indent="-838200" lvl="8" marL="4114800" algn="l">
              <a:spcBef>
                <a:spcPts val="1920"/>
              </a:spcBef>
              <a:spcAft>
                <a:spcPts val="0"/>
              </a:spcAft>
              <a:buClr>
                <a:schemeClr val="dk1"/>
              </a:buClr>
              <a:buSzPts val="9600"/>
              <a:buChar char="•"/>
              <a:defRPr sz="9600"/>
            </a:lvl9pPr>
          </a:lstStyle>
          <a:p/>
        </p:txBody>
      </p:sp>
      <p:sp>
        <p:nvSpPr>
          <p:cNvPr id="57" name="Google Shape;57;p10"/>
          <p:cNvSpPr txBox="1"/>
          <p:nvPr>
            <p:ph idx="2" type="body"/>
          </p:nvPr>
        </p:nvSpPr>
        <p:spPr>
          <a:xfrm>
            <a:off x="2194568" y="9184645"/>
            <a:ext cx="14439903" cy="30022803"/>
          </a:xfrm>
          <a:prstGeom prst="rect">
            <a:avLst/>
          </a:prstGeom>
          <a:noFill/>
          <a:ln>
            <a:noFill/>
          </a:ln>
        </p:spPr>
        <p:txBody>
          <a:bodyPr anchorCtr="0" anchor="t" bIns="219450" lIns="438900" spcFirstLastPara="1" rIns="438900" wrap="square" tIns="219450">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58" name="Google Shape;58;p10"/>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602983" y="30723841"/>
            <a:ext cx="26334720" cy="3627123"/>
          </a:xfrm>
          <a:prstGeom prst="rect">
            <a:avLst/>
          </a:prstGeom>
          <a:noFill/>
          <a:ln>
            <a:noFill/>
          </a:ln>
        </p:spPr>
        <p:txBody>
          <a:bodyPr anchorCtr="0" anchor="b" bIns="219450" lIns="438900" spcFirstLastPara="1" rIns="438900" wrap="square" tIns="219450">
            <a:norm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8602983" y="3921760"/>
            <a:ext cx="26334720" cy="26334720"/>
          </a:xfrm>
          <a:prstGeom prst="rect">
            <a:avLst/>
          </a:prstGeom>
          <a:noFill/>
          <a:ln>
            <a:noFill/>
          </a:ln>
        </p:spPr>
      </p:sp>
      <p:sp>
        <p:nvSpPr>
          <p:cNvPr id="64" name="Google Shape;64;p11"/>
          <p:cNvSpPr txBox="1"/>
          <p:nvPr>
            <p:ph idx="1" type="body"/>
          </p:nvPr>
        </p:nvSpPr>
        <p:spPr>
          <a:xfrm>
            <a:off x="8602983" y="34350964"/>
            <a:ext cx="26334720" cy="5151117"/>
          </a:xfrm>
          <a:prstGeom prst="rect">
            <a:avLst/>
          </a:prstGeom>
          <a:noFill/>
          <a:ln>
            <a:noFill/>
          </a:ln>
        </p:spPr>
        <p:txBody>
          <a:bodyPr anchorCtr="0" anchor="t" bIns="219450" lIns="438900" spcFirstLastPara="1" rIns="438900" wrap="square" tIns="219450">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65" name="Google Shape;65;p11"/>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7462518" y="4973327"/>
            <a:ext cx="28966163" cy="39502080"/>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8034000" y="15544807"/>
            <a:ext cx="37449760" cy="987552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2082800" y="6035047"/>
            <a:ext cx="37449760" cy="28895040"/>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194560" y="1757683"/>
            <a:ext cx="39502080" cy="7315200"/>
          </a:xfrm>
          <a:prstGeom prst="rect">
            <a:avLst/>
          </a:prstGeom>
          <a:noFill/>
          <a:ln>
            <a:noFill/>
          </a:ln>
        </p:spPr>
        <p:txBody>
          <a:bodyPr anchorCtr="0" anchor="ctr" bIns="219450" lIns="438900" spcFirstLastPara="1" rIns="438900" wrap="square" tIns="219450">
            <a:normAutofit/>
          </a:bodyPr>
          <a:lstStyle>
            <a:lvl1pPr lvl="0" marR="0" rtl="0" algn="ctr">
              <a:spcBef>
                <a:spcPts val="0"/>
              </a:spcBef>
              <a:spcAft>
                <a:spcPts val="0"/>
              </a:spcAft>
              <a:buClr>
                <a:schemeClr val="dk1"/>
              </a:buClr>
              <a:buSzPts val="21100"/>
              <a:buFont typeface="Calibri"/>
              <a:buNone/>
              <a:defRPr b="0" i="0" sz="211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2194560" y="10241285"/>
            <a:ext cx="39502080" cy="28966163"/>
          </a:xfrm>
          <a:prstGeom prst="rect">
            <a:avLst/>
          </a:prstGeom>
          <a:noFill/>
          <a:ln>
            <a:noFill/>
          </a:ln>
        </p:spPr>
        <p:txBody>
          <a:bodyPr anchorCtr="0" anchor="t" bIns="219450" lIns="438900" spcFirstLastPara="1" rIns="438900" wrap="square" tIns="219450">
            <a:normAutofit/>
          </a:bodyPr>
          <a:lstStyle>
            <a:lvl1pPr indent="-1206500" lvl="0" marL="457200" marR="0" rtl="0" algn="l">
              <a:spcBef>
                <a:spcPts val="3080"/>
              </a:spcBef>
              <a:spcAft>
                <a:spcPts val="0"/>
              </a:spcAft>
              <a:buClr>
                <a:schemeClr val="dk1"/>
              </a:buClr>
              <a:buSzPts val="15400"/>
              <a:buFont typeface="Arial"/>
              <a:buChar char="•"/>
              <a:defRPr b="0" i="0" sz="15400" u="none" cap="none" strike="noStrike">
                <a:solidFill>
                  <a:schemeClr val="dk1"/>
                </a:solidFill>
                <a:latin typeface="Calibri"/>
                <a:ea typeface="Calibri"/>
                <a:cs typeface="Calibri"/>
                <a:sym typeface="Calibri"/>
              </a:defRPr>
            </a:lvl1pPr>
            <a:lvl2pPr indent="-1079500" lvl="1" marL="9144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58850" lvl="2" marL="1371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2194560" y="40680643"/>
            <a:ext cx="10241280" cy="2336800"/>
          </a:xfrm>
          <a:prstGeom prst="rect">
            <a:avLst/>
          </a:prstGeom>
          <a:noFill/>
          <a:ln>
            <a:noFill/>
          </a:ln>
        </p:spPr>
        <p:txBody>
          <a:bodyPr anchorCtr="0" anchor="ctr" bIns="219450" lIns="438900" spcFirstLastPara="1" rIns="438900" wrap="square" tIns="219450">
            <a:noAutofit/>
          </a:bodyPr>
          <a:lstStyle>
            <a:lvl1pPr lvl="0" marR="0" rtl="0" algn="l">
              <a:spcBef>
                <a:spcPts val="0"/>
              </a:spcBef>
              <a:spcAft>
                <a:spcPts val="0"/>
              </a:spcAft>
              <a:buSzPts val="14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4996160" y="40680643"/>
            <a:ext cx="13898880" cy="2336800"/>
          </a:xfrm>
          <a:prstGeom prst="rect">
            <a:avLst/>
          </a:prstGeom>
          <a:noFill/>
          <a:ln>
            <a:noFill/>
          </a:ln>
        </p:spPr>
        <p:txBody>
          <a:bodyPr anchorCtr="0" anchor="ctr" bIns="219450" lIns="438900" spcFirstLastPara="1" rIns="438900" wrap="square" tIns="219450">
            <a:noAutofit/>
          </a:bodyPr>
          <a:lstStyle>
            <a:lvl1pPr lvl="0" marR="0" rtl="0" algn="ctr">
              <a:spcBef>
                <a:spcPts val="0"/>
              </a:spcBef>
              <a:spcAft>
                <a:spcPts val="0"/>
              </a:spcAft>
              <a:buSzPts val="14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31455360" y="40680643"/>
            <a:ext cx="10241280" cy="2336800"/>
          </a:xfrm>
          <a:prstGeom prst="rect">
            <a:avLst/>
          </a:prstGeom>
          <a:noFill/>
          <a:ln>
            <a:noFill/>
          </a:ln>
        </p:spPr>
        <p:txBody>
          <a:bodyPr anchorCtr="0" anchor="ctr" bIns="219450" lIns="438900" spcFirstLastPara="1" rIns="438900" wrap="square" tIns="219450">
            <a:noAutofit/>
          </a:bodyPr>
          <a:lstStyle>
            <a:lvl1pPr indent="0" lvl="0" marL="0" marR="0" rtl="0" algn="r">
              <a:spcBef>
                <a:spcPts val="0"/>
              </a:spcBef>
              <a:buNone/>
              <a:defRPr b="0" i="0" sz="5800" u="none" cap="none" strike="noStrike">
                <a:solidFill>
                  <a:srgbClr val="888888"/>
                </a:solidFill>
                <a:latin typeface="Calibri"/>
                <a:ea typeface="Calibri"/>
                <a:cs typeface="Calibri"/>
                <a:sym typeface="Calibri"/>
              </a:defRPr>
            </a:lvl1pPr>
            <a:lvl2pPr indent="0" lvl="1" marL="0" marR="0" rtl="0" algn="r">
              <a:spcBef>
                <a:spcPts val="0"/>
              </a:spcBef>
              <a:buNone/>
              <a:defRPr b="0" i="0" sz="5800" u="none" cap="none" strike="noStrike">
                <a:solidFill>
                  <a:srgbClr val="888888"/>
                </a:solidFill>
                <a:latin typeface="Calibri"/>
                <a:ea typeface="Calibri"/>
                <a:cs typeface="Calibri"/>
                <a:sym typeface="Calibri"/>
              </a:defRPr>
            </a:lvl2pPr>
            <a:lvl3pPr indent="0" lvl="2" marL="0" marR="0" rtl="0" algn="r">
              <a:spcBef>
                <a:spcPts val="0"/>
              </a:spcBef>
              <a:buNone/>
              <a:defRPr b="0" i="0" sz="5800" u="none" cap="none" strike="noStrike">
                <a:solidFill>
                  <a:srgbClr val="888888"/>
                </a:solidFill>
                <a:latin typeface="Calibri"/>
                <a:ea typeface="Calibri"/>
                <a:cs typeface="Calibri"/>
                <a:sym typeface="Calibri"/>
              </a:defRPr>
            </a:lvl3pPr>
            <a:lvl4pPr indent="0" lvl="3" marL="0" marR="0" rtl="0" algn="r">
              <a:spcBef>
                <a:spcPts val="0"/>
              </a:spcBef>
              <a:buNone/>
              <a:defRPr b="0" i="0" sz="5800" u="none" cap="none" strike="noStrike">
                <a:solidFill>
                  <a:srgbClr val="888888"/>
                </a:solidFill>
                <a:latin typeface="Calibri"/>
                <a:ea typeface="Calibri"/>
                <a:cs typeface="Calibri"/>
                <a:sym typeface="Calibri"/>
              </a:defRPr>
            </a:lvl4pPr>
            <a:lvl5pPr indent="0" lvl="4" marL="0" marR="0" rtl="0" algn="r">
              <a:spcBef>
                <a:spcPts val="0"/>
              </a:spcBef>
              <a:buNone/>
              <a:defRPr b="0" i="0" sz="5800" u="none" cap="none" strike="noStrike">
                <a:solidFill>
                  <a:srgbClr val="888888"/>
                </a:solidFill>
                <a:latin typeface="Calibri"/>
                <a:ea typeface="Calibri"/>
                <a:cs typeface="Calibri"/>
                <a:sym typeface="Calibri"/>
              </a:defRPr>
            </a:lvl5pPr>
            <a:lvl6pPr indent="0" lvl="5" marL="0" marR="0" rtl="0" algn="r">
              <a:spcBef>
                <a:spcPts val="0"/>
              </a:spcBef>
              <a:buNone/>
              <a:defRPr b="0" i="0" sz="5800" u="none" cap="none" strike="noStrike">
                <a:solidFill>
                  <a:srgbClr val="888888"/>
                </a:solidFill>
                <a:latin typeface="Calibri"/>
                <a:ea typeface="Calibri"/>
                <a:cs typeface="Calibri"/>
                <a:sym typeface="Calibri"/>
              </a:defRPr>
            </a:lvl6pPr>
            <a:lvl7pPr indent="0" lvl="6" marL="0" marR="0" rtl="0" algn="r">
              <a:spcBef>
                <a:spcPts val="0"/>
              </a:spcBef>
              <a:buNone/>
              <a:defRPr b="0" i="0" sz="5800" u="none" cap="none" strike="noStrike">
                <a:solidFill>
                  <a:srgbClr val="888888"/>
                </a:solidFill>
                <a:latin typeface="Calibri"/>
                <a:ea typeface="Calibri"/>
                <a:cs typeface="Calibri"/>
                <a:sym typeface="Calibri"/>
              </a:defRPr>
            </a:lvl7pPr>
            <a:lvl8pPr indent="0" lvl="7" marL="0" marR="0" rtl="0" algn="r">
              <a:spcBef>
                <a:spcPts val="0"/>
              </a:spcBef>
              <a:buNone/>
              <a:defRPr b="0" i="0" sz="5800" u="none" cap="none" strike="noStrike">
                <a:solidFill>
                  <a:srgbClr val="888888"/>
                </a:solidFill>
                <a:latin typeface="Calibri"/>
                <a:ea typeface="Calibri"/>
                <a:cs typeface="Calibri"/>
                <a:sym typeface="Calibri"/>
              </a:defRPr>
            </a:lvl8pPr>
            <a:lvl9pPr indent="0" lvl="8" marL="0" marR="0" rtl="0" algn="r">
              <a:spcBef>
                <a:spcPts val="0"/>
              </a:spcBef>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4.png"/><Relationship Id="rId11" Type="http://schemas.openxmlformats.org/officeDocument/2006/relationships/image" Target="../media/image11.png"/><Relationship Id="rId22" Type="http://schemas.openxmlformats.org/officeDocument/2006/relationships/image" Target="../media/image17.png"/><Relationship Id="rId10" Type="http://schemas.openxmlformats.org/officeDocument/2006/relationships/hyperlink" Target="https://milvus.io/ai-quick-reference/what-are-latent-diffusion-models-and-how-do-they-differ-from-pixelspace-diffusion" TargetMode="External"/><Relationship Id="rId21" Type="http://schemas.openxmlformats.org/officeDocument/2006/relationships/image" Target="../media/image6.png"/><Relationship Id="rId13" Type="http://schemas.openxmlformats.org/officeDocument/2006/relationships/image" Target="../media/image8.png"/><Relationship Id="rId24" Type="http://schemas.openxmlformats.org/officeDocument/2006/relationships/image" Target="../media/image9.png"/><Relationship Id="rId12" Type="http://schemas.openxmlformats.org/officeDocument/2006/relationships/image" Target="../media/image10.png"/><Relationship Id="rId23"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images.google.com/imgres?imgurl=http://www.fish.washington.edu/research/best/logos/NSF_logo_large.gif&amp;imgrefurl=http://www.fish.washington.edu/research/best/talks_posters.htm&amp;h=754&amp;w=743&amp;sz=122&amp;tbnid=Uu6Xo5sBe8wmgM:&amp;tbnh=142&amp;tbnw=140&amp;prev=/images?q=nsf+logo&amp;um=1&amp;start=1&amp;sa=X&amp;oi=images&amp;ct=image&amp;cd=1" TargetMode="External"/><Relationship Id="rId4" Type="http://schemas.openxmlformats.org/officeDocument/2006/relationships/image" Target="../media/image1.jpg"/><Relationship Id="rId9" Type="http://schemas.openxmlformats.org/officeDocument/2006/relationships/hyperlink" Target="https://www.power-technology.com/features/featureinpictures-longest-wind-turbine-rotor-blades" TargetMode="External"/><Relationship Id="rId15" Type="http://schemas.openxmlformats.org/officeDocument/2006/relationships/image" Target="../media/image4.png"/><Relationship Id="rId14" Type="http://schemas.openxmlformats.org/officeDocument/2006/relationships/image" Target="../media/image5.png"/><Relationship Id="rId17" Type="http://schemas.openxmlformats.org/officeDocument/2006/relationships/image" Target="../media/image15.png"/><Relationship Id="rId16" Type="http://schemas.openxmlformats.org/officeDocument/2006/relationships/image" Target="../media/image13.png"/><Relationship Id="rId5" Type="http://schemas.openxmlformats.org/officeDocument/2006/relationships/image" Target="../media/image16.jpg"/><Relationship Id="rId19" Type="http://schemas.openxmlformats.org/officeDocument/2006/relationships/image" Target="../media/image3.png"/><Relationship Id="rId6" Type="http://schemas.openxmlformats.org/officeDocument/2006/relationships/image" Target="../media/image2.png"/><Relationship Id="rId18" Type="http://schemas.openxmlformats.org/officeDocument/2006/relationships/image" Target="../media/image7.png"/><Relationship Id="rId7" Type="http://schemas.openxmlformats.org/officeDocument/2006/relationships/image" Target="../media/image12.png"/><Relationship Id="rId8" Type="http://schemas.openxmlformats.org/officeDocument/2006/relationships/hyperlink" Target="https://www.marinelog.com/offshore/renewables/grounded-wind-turbine-installation-barge-capsiz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9300156" y="489885"/>
            <a:ext cx="25118400" cy="2801400"/>
          </a:xfrm>
          <a:prstGeom prst="rect">
            <a:avLst/>
          </a:prstGeom>
          <a:solidFill>
            <a:srgbClr val="CC0000"/>
          </a:solidFill>
          <a:ln>
            <a:noFill/>
          </a:ln>
        </p:spPr>
        <p:txBody>
          <a:bodyPr anchorCtr="0" anchor="ctr" bIns="46000" lIns="92025" spcFirstLastPara="1" rIns="92025" wrap="square" tIns="46000">
            <a:spAutoFit/>
          </a:bodyPr>
          <a:lstStyle/>
          <a:p>
            <a:pPr indent="0" lvl="0" marL="0" marR="0" rtl="0" algn="ctr">
              <a:spcBef>
                <a:spcPts val="0"/>
              </a:spcBef>
              <a:spcAft>
                <a:spcPts val="0"/>
              </a:spcAft>
              <a:buNone/>
            </a:pPr>
            <a:r>
              <a:rPr b="1" i="1" lang="en-US" sz="7200">
                <a:solidFill>
                  <a:srgbClr val="FFFFFF"/>
                </a:solidFill>
              </a:rPr>
              <a:t>PINN with </a:t>
            </a:r>
            <a:r>
              <a:rPr b="1" i="1" lang="en-US" sz="7200">
                <a:solidFill>
                  <a:srgbClr val="FFFFFF"/>
                </a:solidFill>
              </a:rPr>
              <a:t>SINDy for Real-Time Prediction of Tower Top Motions During Offshore Wind Turbine Installation</a:t>
            </a:r>
            <a:endParaRPr b="1" i="1" sz="8800">
              <a:solidFill>
                <a:srgbClr val="FFFFFF"/>
              </a:solidFill>
            </a:endParaRPr>
          </a:p>
        </p:txBody>
      </p:sp>
      <p:pic>
        <p:nvPicPr>
          <p:cNvPr descr="http://www.fish.washington.edu/research/best/talks_posters.htm" id="85" name="Google Shape;85;p1">
            <a:hlinkClick r:id="rId3"/>
          </p:cNvPr>
          <p:cNvPicPr preferRelativeResize="0"/>
          <p:nvPr/>
        </p:nvPicPr>
        <p:blipFill rotWithShape="1">
          <a:blip r:embed="rId4">
            <a:alphaModFix/>
          </a:blip>
          <a:srcRect b="0" l="0" r="0" t="0"/>
          <a:stretch/>
        </p:blipFill>
        <p:spPr>
          <a:xfrm>
            <a:off x="39788599" y="369333"/>
            <a:ext cx="3721601" cy="3777732"/>
          </a:xfrm>
          <a:prstGeom prst="rect">
            <a:avLst/>
          </a:prstGeom>
          <a:noFill/>
          <a:ln>
            <a:noFill/>
          </a:ln>
        </p:spPr>
      </p:pic>
      <p:sp>
        <p:nvSpPr>
          <p:cNvPr id="86" name="Google Shape;86;p1"/>
          <p:cNvSpPr txBox="1"/>
          <p:nvPr/>
        </p:nvSpPr>
        <p:spPr>
          <a:xfrm>
            <a:off x="9386400" y="3537975"/>
            <a:ext cx="25118400" cy="12006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100"/>
              <a:buFont typeface="Arial"/>
              <a:buNone/>
            </a:pPr>
            <a:r>
              <a:rPr b="1" lang="en-US" sz="3600">
                <a:solidFill>
                  <a:schemeClr val="dk1"/>
                </a:solidFill>
              </a:rPr>
              <a:t>Saravanan Bhaskaran</a:t>
            </a:r>
            <a:r>
              <a:rPr b="1" baseline="30000" lang="en-US" sz="3600">
                <a:solidFill>
                  <a:schemeClr val="dk1"/>
                </a:solidFill>
              </a:rPr>
              <a:t>1</a:t>
            </a:r>
            <a:r>
              <a:rPr b="1" lang="en-US" sz="3600">
                <a:solidFill>
                  <a:schemeClr val="dk1"/>
                </a:solidFill>
              </a:rPr>
              <a:t>, </a:t>
            </a:r>
            <a:r>
              <a:rPr b="1" lang="en-US" sz="3600">
                <a:solidFill>
                  <a:schemeClr val="dk1"/>
                </a:solidFill>
              </a:rPr>
              <a:t>Dyllon Dunton</a:t>
            </a:r>
            <a:r>
              <a:rPr b="1" baseline="30000" lang="en-US" sz="3600">
                <a:solidFill>
                  <a:schemeClr val="dk1"/>
                </a:solidFill>
              </a:rPr>
              <a:t>2</a:t>
            </a:r>
            <a:r>
              <a:rPr b="1" lang="en-US" sz="3600">
                <a:solidFill>
                  <a:schemeClr val="dk1"/>
                </a:solidFill>
              </a:rPr>
              <a:t>,</a:t>
            </a:r>
            <a:r>
              <a:rPr b="1" lang="en-US" sz="3600">
                <a:solidFill>
                  <a:schemeClr val="dk1"/>
                </a:solidFill>
              </a:rPr>
              <a:t> </a:t>
            </a:r>
            <a:r>
              <a:rPr b="1" lang="en-US" sz="3600">
                <a:solidFill>
                  <a:schemeClr val="dk1"/>
                </a:solidFill>
              </a:rPr>
              <a:t>Yifeng Zhu</a:t>
            </a:r>
            <a:r>
              <a:rPr b="1" baseline="30000" lang="en-US" sz="3600">
                <a:solidFill>
                  <a:schemeClr val="dk1"/>
                </a:solidFill>
              </a:rPr>
              <a:t>2</a:t>
            </a:r>
            <a:r>
              <a:rPr b="1" lang="en-US" sz="3600">
                <a:solidFill>
                  <a:schemeClr val="dk1"/>
                </a:solidFill>
              </a:rPr>
              <a:t>, Andrew Goupee</a:t>
            </a:r>
            <a:r>
              <a:rPr b="1" baseline="30000" lang="en-US" sz="3600">
                <a:solidFill>
                  <a:schemeClr val="dk1"/>
                </a:solidFill>
              </a:rPr>
              <a:t>1</a:t>
            </a:r>
            <a:r>
              <a:rPr b="1" lang="en-US" sz="3600">
                <a:solidFill>
                  <a:schemeClr val="dk1"/>
                </a:solidFill>
              </a:rPr>
              <a:t>, Amrit Verma (PI)</a:t>
            </a:r>
            <a:r>
              <a:rPr b="1" baseline="30000" lang="en-US" sz="3600">
                <a:solidFill>
                  <a:schemeClr val="dk1"/>
                </a:solidFill>
              </a:rPr>
              <a:t>1</a:t>
            </a:r>
            <a:endParaRPr b="1" baseline="30000" sz="3600">
              <a:solidFill>
                <a:schemeClr val="dk1"/>
              </a:solidFill>
            </a:endParaRPr>
          </a:p>
          <a:p>
            <a:pPr indent="0" lvl="0" marL="0" rtl="0" algn="ctr">
              <a:spcBef>
                <a:spcPts val="0"/>
              </a:spcBef>
              <a:spcAft>
                <a:spcPts val="0"/>
              </a:spcAft>
              <a:buClr>
                <a:schemeClr val="dk1"/>
              </a:buClr>
              <a:buSzPts val="1100"/>
              <a:buFont typeface="Arial"/>
              <a:buNone/>
            </a:pPr>
            <a:r>
              <a:rPr b="1" baseline="30000" i="1" lang="en-US" sz="3600">
                <a:solidFill>
                  <a:schemeClr val="dk1"/>
                </a:solidFill>
              </a:rPr>
              <a:t>1</a:t>
            </a:r>
            <a:r>
              <a:rPr b="1" i="1" lang="en-US" sz="3600">
                <a:solidFill>
                  <a:schemeClr val="dk1"/>
                </a:solidFill>
              </a:rPr>
              <a:t>Department of Mechanical Engineering, </a:t>
            </a:r>
            <a:r>
              <a:rPr b="1" baseline="30000" i="1" lang="en-US" sz="3600">
                <a:solidFill>
                  <a:schemeClr val="dk1"/>
                </a:solidFill>
              </a:rPr>
              <a:t>2</a:t>
            </a:r>
            <a:r>
              <a:rPr b="1" i="1" lang="en-US" sz="3600">
                <a:solidFill>
                  <a:schemeClr val="dk1"/>
                </a:solidFill>
              </a:rPr>
              <a:t>Department of Electrical and Computer Engineering</a:t>
            </a:r>
            <a:r>
              <a:rPr b="1" i="1" lang="en-US" sz="3600">
                <a:solidFill>
                  <a:schemeClr val="dk1"/>
                </a:solidFill>
              </a:rPr>
              <a:t>, University of Maine</a:t>
            </a:r>
            <a:endParaRPr b="1" sz="3600">
              <a:solidFill>
                <a:schemeClr val="dk1"/>
              </a:solidFill>
            </a:endParaRPr>
          </a:p>
        </p:txBody>
      </p:sp>
      <p:sp>
        <p:nvSpPr>
          <p:cNvPr id="87" name="Google Shape;87;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88" name="Google Shape;88;p1"/>
          <p:cNvSpPr/>
          <p:nvPr/>
        </p:nvSpPr>
        <p:spPr>
          <a:xfrm>
            <a:off x="1" y="-228600"/>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89" name="Google Shape;89;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0" name="Google Shape;90;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1" name="Google Shape;91;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2" name="Google Shape;92;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3" name="Google Shape;93;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4" name="Google Shape;94;p1"/>
          <p:cNvSpPr/>
          <p:nvPr/>
        </p:nvSpPr>
        <p:spPr>
          <a:xfrm>
            <a:off x="0" y="1"/>
            <a:ext cx="415498" cy="369332"/>
          </a:xfrm>
          <a:prstGeom prst="rect">
            <a:avLst/>
          </a:prstGeom>
          <a:noFill/>
          <a:ln>
            <a:noFill/>
          </a:ln>
        </p:spPr>
        <p:txBody>
          <a:bodyPr anchorCtr="0" anchor="ctr" bIns="45700" lIns="91425" spcFirstLastPara="1" rIns="91425" wrap="square" tIns="45700">
            <a:spAutoFit/>
          </a:bodyPr>
          <a:lstStyle/>
          <a:p>
            <a:pPr indent="228594"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5" name="Google Shape;95;p1"/>
          <p:cNvSpPr/>
          <p:nvPr/>
        </p:nvSpPr>
        <p:spPr>
          <a:xfrm>
            <a:off x="1" y="1660287"/>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6" name="Google Shape;96;p1"/>
          <p:cNvSpPr/>
          <p:nvPr/>
        </p:nvSpPr>
        <p:spPr>
          <a:xfrm>
            <a:off x="1" y="1"/>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7" name="Google Shape;97;p1"/>
          <p:cNvSpPr/>
          <p:nvPr/>
        </p:nvSpPr>
        <p:spPr>
          <a:xfrm>
            <a:off x="1" y="1117362"/>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8" name="Google Shape;98;p1"/>
          <p:cNvSpPr/>
          <p:nvPr/>
        </p:nvSpPr>
        <p:spPr>
          <a:xfrm>
            <a:off x="1" y="1726962"/>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9" name="Google Shape;99;p1"/>
          <p:cNvSpPr/>
          <p:nvPr/>
        </p:nvSpPr>
        <p:spPr>
          <a:xfrm>
            <a:off x="1" y="1"/>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00" name="Google Shape;100;p1"/>
          <p:cNvSpPr/>
          <p:nvPr/>
        </p:nvSpPr>
        <p:spPr>
          <a:xfrm>
            <a:off x="1" y="-228599"/>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descr="http://divisions.asme.org/cie/events/cie2006/asme_logo.jpg" id="101" name="Google Shape;101;p1"/>
          <p:cNvPicPr preferRelativeResize="0"/>
          <p:nvPr/>
        </p:nvPicPr>
        <p:blipFill rotWithShape="1">
          <a:blip r:embed="rId5">
            <a:alphaModFix/>
          </a:blip>
          <a:srcRect b="9951" l="0" r="0" t="0"/>
          <a:stretch/>
        </p:blipFill>
        <p:spPr>
          <a:xfrm>
            <a:off x="35052002" y="895236"/>
            <a:ext cx="4479461" cy="2371468"/>
          </a:xfrm>
          <a:prstGeom prst="rect">
            <a:avLst/>
          </a:prstGeom>
          <a:noFill/>
          <a:ln>
            <a:noFill/>
          </a:ln>
        </p:spPr>
      </p:pic>
      <p:sp>
        <p:nvSpPr>
          <p:cNvPr id="102" name="Google Shape;102;p1"/>
          <p:cNvSpPr txBox="1"/>
          <p:nvPr/>
        </p:nvSpPr>
        <p:spPr>
          <a:xfrm>
            <a:off x="34991370" y="3509428"/>
            <a:ext cx="8671200" cy="1323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4000" u="none" cap="none" strike="noStrike">
                <a:solidFill>
                  <a:srgbClr val="000000"/>
                </a:solidFill>
                <a:latin typeface="Arial"/>
                <a:ea typeface="Arial"/>
                <a:cs typeface="Arial"/>
                <a:sym typeface="Arial"/>
              </a:rPr>
              <a:t>IMECE Track 19-0</a:t>
            </a:r>
            <a:r>
              <a:rPr b="1" lang="en-US" sz="4000"/>
              <a:t>1</a:t>
            </a:r>
            <a:endParaRPr/>
          </a:p>
          <a:p>
            <a:pPr indent="0" lvl="0" marL="0" marR="0" rtl="0" algn="just">
              <a:spcBef>
                <a:spcPts val="0"/>
              </a:spcBef>
              <a:spcAft>
                <a:spcPts val="0"/>
              </a:spcAft>
              <a:buNone/>
            </a:pPr>
            <a:r>
              <a:rPr b="1" i="0" lang="en-US" sz="4000" u="none" cap="none" strike="noStrike">
                <a:solidFill>
                  <a:srgbClr val="000000"/>
                </a:solidFill>
                <a:latin typeface="Arial"/>
                <a:ea typeface="Arial"/>
                <a:cs typeface="Arial"/>
                <a:sym typeface="Arial"/>
              </a:rPr>
              <a:t>NSF Research Poster Competition</a:t>
            </a:r>
            <a:endParaRPr/>
          </a:p>
        </p:txBody>
      </p:sp>
      <p:cxnSp>
        <p:nvCxnSpPr>
          <p:cNvPr id="103" name="Google Shape;103;p1"/>
          <p:cNvCxnSpPr/>
          <p:nvPr/>
        </p:nvCxnSpPr>
        <p:spPr>
          <a:xfrm>
            <a:off x="457199" y="4985265"/>
            <a:ext cx="42976800" cy="0"/>
          </a:xfrm>
          <a:prstGeom prst="straightConnector1">
            <a:avLst/>
          </a:prstGeom>
          <a:noFill/>
          <a:ln cap="flat" cmpd="sng" w="127000">
            <a:solidFill>
              <a:srgbClr val="E20000"/>
            </a:solidFill>
            <a:prstDash val="solid"/>
            <a:round/>
            <a:headEnd len="sm" w="sm" type="none"/>
            <a:tailEnd len="sm" w="sm" type="none"/>
          </a:ln>
        </p:spPr>
      </p:cxnSp>
      <p:sp>
        <p:nvSpPr>
          <p:cNvPr id="104" name="Google Shape;104;p1"/>
          <p:cNvSpPr/>
          <p:nvPr/>
        </p:nvSpPr>
        <p:spPr>
          <a:xfrm>
            <a:off x="1932742" y="4147066"/>
            <a:ext cx="5458546" cy="76944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4400" u="none" cap="none" strike="noStrike">
                <a:solidFill>
                  <a:srgbClr val="000000"/>
                </a:solidFill>
                <a:latin typeface="Arial"/>
                <a:ea typeface="Arial"/>
                <a:cs typeface="Arial"/>
                <a:sym typeface="Arial"/>
              </a:rPr>
              <a:t>IMECE 2025-</a:t>
            </a:r>
            <a:r>
              <a:rPr b="1" lang="en-US" sz="4400"/>
              <a:t>173097</a:t>
            </a:r>
            <a:endParaRPr/>
          </a:p>
        </p:txBody>
      </p:sp>
      <p:pic>
        <p:nvPicPr>
          <p:cNvPr id="105" name="Google Shape;105;p1"/>
          <p:cNvPicPr preferRelativeResize="0"/>
          <p:nvPr/>
        </p:nvPicPr>
        <p:blipFill>
          <a:blip r:embed="rId6">
            <a:alphaModFix/>
          </a:blip>
          <a:stretch>
            <a:fillRect/>
          </a:stretch>
        </p:blipFill>
        <p:spPr>
          <a:xfrm>
            <a:off x="4662027" y="1098425"/>
            <a:ext cx="3769000" cy="2553483"/>
          </a:xfrm>
          <a:prstGeom prst="rect">
            <a:avLst/>
          </a:prstGeom>
          <a:noFill/>
          <a:ln>
            <a:noFill/>
          </a:ln>
        </p:spPr>
      </p:pic>
      <p:pic>
        <p:nvPicPr>
          <p:cNvPr id="106" name="Google Shape;106;p1"/>
          <p:cNvPicPr preferRelativeResize="0"/>
          <p:nvPr/>
        </p:nvPicPr>
        <p:blipFill>
          <a:blip r:embed="rId7">
            <a:alphaModFix/>
          </a:blip>
          <a:stretch>
            <a:fillRect/>
          </a:stretch>
        </p:blipFill>
        <p:spPr>
          <a:xfrm>
            <a:off x="1213750" y="892763"/>
            <a:ext cx="2255895" cy="3009376"/>
          </a:xfrm>
          <a:prstGeom prst="rect">
            <a:avLst/>
          </a:prstGeom>
          <a:noFill/>
          <a:ln>
            <a:noFill/>
          </a:ln>
        </p:spPr>
      </p:pic>
      <p:sp>
        <p:nvSpPr>
          <p:cNvPr id="107" name="Google Shape;107;p1"/>
          <p:cNvSpPr/>
          <p:nvPr/>
        </p:nvSpPr>
        <p:spPr>
          <a:xfrm>
            <a:off x="21909350" y="40235238"/>
            <a:ext cx="14176500" cy="20061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solidFill>
                  <a:srgbClr val="000000"/>
                </a:solidFill>
              </a:rPr>
              <a:t>8</a:t>
            </a:r>
            <a:r>
              <a:rPr b="1" i="0" lang="en-US" sz="3500" u="none" cap="none" strike="noStrike">
                <a:solidFill>
                  <a:srgbClr val="000000"/>
                </a:solidFill>
                <a:latin typeface="Arial"/>
                <a:ea typeface="Arial"/>
                <a:cs typeface="Arial"/>
                <a:sym typeface="Arial"/>
              </a:rPr>
              <a:t>. Acknowledgment</a:t>
            </a:r>
            <a:endParaRPr b="1" sz="3500">
              <a:solidFill>
                <a:srgbClr val="000000"/>
              </a:solidFill>
            </a:endParaRPr>
          </a:p>
          <a:p>
            <a:pPr indent="0" lvl="0" marL="0" rtl="0" algn="l">
              <a:spcBef>
                <a:spcPts val="0"/>
              </a:spcBef>
              <a:spcAft>
                <a:spcPts val="0"/>
              </a:spcAft>
              <a:buClr>
                <a:srgbClr val="000000"/>
              </a:buClr>
              <a:buSzPts val="1100"/>
              <a:buFont typeface="Arial"/>
              <a:buNone/>
            </a:pPr>
            <a:r>
              <a:t/>
            </a:r>
            <a:endParaRPr sz="2500">
              <a:solidFill>
                <a:srgbClr val="000000"/>
              </a:solidFill>
            </a:endParaRPr>
          </a:p>
          <a:p>
            <a:pPr indent="0" lvl="0" marL="0" marR="0" rtl="0" algn="l">
              <a:lnSpc>
                <a:spcPct val="100000"/>
              </a:lnSpc>
              <a:spcBef>
                <a:spcPts val="0"/>
              </a:spcBef>
              <a:spcAft>
                <a:spcPts val="0"/>
              </a:spcAft>
              <a:buNone/>
            </a:pPr>
            <a:r>
              <a:t/>
            </a:r>
            <a:endParaRPr sz="2500">
              <a:solidFill>
                <a:srgbClr val="000000"/>
              </a:solidFill>
            </a:endParaRPr>
          </a:p>
        </p:txBody>
      </p:sp>
      <p:sp>
        <p:nvSpPr>
          <p:cNvPr id="108" name="Google Shape;108;p1"/>
          <p:cNvSpPr/>
          <p:nvPr/>
        </p:nvSpPr>
        <p:spPr>
          <a:xfrm>
            <a:off x="13848625" y="5319075"/>
            <a:ext cx="7851000" cy="75435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36338900" y="34063025"/>
            <a:ext cx="7162800" cy="95079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10</a:t>
            </a:r>
            <a:r>
              <a:rPr b="1" i="0" lang="en-US" sz="3500" u="none" cap="none" strike="noStrike">
                <a:solidFill>
                  <a:srgbClr val="000000"/>
                </a:solidFill>
                <a:latin typeface="Arial"/>
                <a:ea typeface="Arial"/>
                <a:cs typeface="Arial"/>
                <a:sym typeface="Arial"/>
              </a:rPr>
              <a:t>. References</a:t>
            </a:r>
            <a:endParaRPr b="1" sz="3500">
              <a:solidFill>
                <a:srgbClr val="000000"/>
              </a:solidFill>
            </a:endParaRPr>
          </a:p>
          <a:p>
            <a:pPr indent="0" lvl="0" marL="0" rtl="0" algn="l">
              <a:spcBef>
                <a:spcPts val="0"/>
              </a:spcBef>
              <a:spcAft>
                <a:spcPts val="0"/>
              </a:spcAft>
              <a:buNone/>
            </a:pPr>
            <a:r>
              <a:rPr lang="en-US" sz="2100">
                <a:solidFill>
                  <a:srgbClr val="000000"/>
                </a:solidFill>
              </a:rPr>
              <a:t>[1] </a:t>
            </a:r>
            <a:r>
              <a:rPr lang="en-US" sz="2100">
                <a:solidFill>
                  <a:srgbClr val="222222"/>
                </a:solidFill>
                <a:highlight>
                  <a:srgbClr val="FFFFFF"/>
                </a:highlight>
              </a:rPr>
              <a:t>Verma, A.S., Jiang, Z., Ren, Z., Gao, Z. and Vedvik, N.P., 2019. </a:t>
            </a:r>
            <a:r>
              <a:rPr i="1" lang="en-US" sz="2100">
                <a:solidFill>
                  <a:srgbClr val="222222"/>
                </a:solidFill>
                <a:highlight>
                  <a:srgbClr val="FFFFFF"/>
                </a:highlight>
              </a:rPr>
              <a:t>Energies</a:t>
            </a:r>
            <a:r>
              <a:rPr lang="en-US" sz="2100">
                <a:solidFill>
                  <a:srgbClr val="222222"/>
                </a:solidFill>
                <a:highlight>
                  <a:srgbClr val="FFFFFF"/>
                </a:highlight>
              </a:rPr>
              <a:t>, </a:t>
            </a:r>
            <a:r>
              <a:rPr i="1" lang="en-US" sz="2100">
                <a:solidFill>
                  <a:srgbClr val="222222"/>
                </a:solidFill>
                <a:highlight>
                  <a:srgbClr val="FFFFFF"/>
                </a:highlight>
              </a:rPr>
              <a:t>12</a:t>
            </a:r>
            <a:r>
              <a:rPr lang="en-US" sz="2100">
                <a:solidFill>
                  <a:srgbClr val="222222"/>
                </a:solidFill>
                <a:highlight>
                  <a:srgbClr val="FFFFFF"/>
                </a:highlight>
              </a:rPr>
              <a:t>(10), p.1867.</a:t>
            </a:r>
            <a:endParaRPr sz="2100">
              <a:solidFill>
                <a:srgbClr val="222222"/>
              </a:solidFill>
              <a:highlight>
                <a:srgbClr val="FFFFFF"/>
              </a:highlight>
            </a:endParaRPr>
          </a:p>
          <a:p>
            <a:pPr indent="0" lvl="0" marL="0" rtl="0" algn="l">
              <a:spcBef>
                <a:spcPts val="0"/>
              </a:spcBef>
              <a:spcAft>
                <a:spcPts val="0"/>
              </a:spcAft>
              <a:buNone/>
            </a:pPr>
            <a:r>
              <a:rPr lang="en-US" sz="2100">
                <a:solidFill>
                  <a:srgbClr val="222222"/>
                </a:solidFill>
                <a:highlight>
                  <a:srgbClr val="FFFFFF"/>
                </a:highlight>
              </a:rPr>
              <a:t>[2]</a:t>
            </a:r>
            <a:r>
              <a:rPr lang="en-US" sz="2100" u="sng">
                <a:solidFill>
                  <a:srgbClr val="1155CC"/>
                </a:solidFill>
                <a:highlight>
                  <a:srgbClr val="FFFFFF"/>
                </a:highlight>
                <a:hlinkClick r:id="rId8">
                  <a:extLst>
                    <a:ext uri="{A12FA001-AC4F-418D-AE19-62706E023703}">
                      <ahyp:hlinkClr val="tx"/>
                    </a:ext>
                  </a:extLst>
                </a:hlinkClick>
              </a:rPr>
              <a:t>https://www.marinelog.com/offshore/renewables/grounded-wind-turbine-installation-barge-capsizes/</a:t>
            </a:r>
            <a:endParaRPr sz="2100">
              <a:solidFill>
                <a:srgbClr val="222222"/>
              </a:solidFill>
              <a:highlight>
                <a:srgbClr val="FFFFFF"/>
              </a:highlight>
            </a:endParaRPr>
          </a:p>
          <a:p>
            <a:pPr indent="0" lvl="0" marL="0" rtl="0" algn="l">
              <a:spcBef>
                <a:spcPts val="0"/>
              </a:spcBef>
              <a:spcAft>
                <a:spcPts val="0"/>
              </a:spcAft>
              <a:buNone/>
            </a:pPr>
            <a:r>
              <a:rPr lang="en-US" sz="2100">
                <a:solidFill>
                  <a:srgbClr val="222222"/>
                </a:solidFill>
                <a:highlight>
                  <a:srgbClr val="FFFFFF"/>
                </a:highlight>
              </a:rPr>
              <a:t>[3]</a:t>
            </a:r>
            <a:r>
              <a:rPr lang="en-US" sz="2100" u="sng">
                <a:solidFill>
                  <a:srgbClr val="1155CC"/>
                </a:solidFill>
                <a:highlight>
                  <a:srgbClr val="FFFFFF"/>
                </a:highlight>
                <a:hlinkClick r:id="rId9">
                  <a:extLst>
                    <a:ext uri="{A12FA001-AC4F-418D-AE19-62706E023703}">
                      <ahyp:hlinkClr val="tx"/>
                    </a:ext>
                  </a:extLst>
                </a:hlinkClick>
              </a:rPr>
              <a:t>https://www.power-technology.com/features/featureinpictures-longest-wind-turbine-rotor-blades</a:t>
            </a:r>
            <a:r>
              <a:rPr lang="en-US" sz="2100">
                <a:solidFill>
                  <a:srgbClr val="222222"/>
                </a:solidFill>
                <a:highlight>
                  <a:srgbClr val="FFFFFF"/>
                </a:highlight>
              </a:rPr>
              <a:t>. </a:t>
            </a:r>
            <a:endParaRPr sz="2100">
              <a:solidFill>
                <a:srgbClr val="222222"/>
              </a:solidFill>
              <a:highlight>
                <a:srgbClr val="FFFFFF"/>
              </a:highlight>
            </a:endParaRPr>
          </a:p>
          <a:p>
            <a:pPr indent="0" lvl="0" marL="0" rtl="0" algn="l">
              <a:spcBef>
                <a:spcPts val="0"/>
              </a:spcBef>
              <a:spcAft>
                <a:spcPts val="0"/>
              </a:spcAft>
              <a:buNone/>
            </a:pPr>
            <a:r>
              <a:rPr lang="en-US" sz="2100">
                <a:solidFill>
                  <a:schemeClr val="dk1"/>
                </a:solidFill>
              </a:rPr>
              <a:t>[4] OrcaFlex ©, Version 11.4; Orcina: Ulverston, UK.</a:t>
            </a:r>
            <a:endParaRPr sz="2100">
              <a:solidFill>
                <a:schemeClr val="dk1"/>
              </a:solidFill>
            </a:endParaRPr>
          </a:p>
          <a:p>
            <a:pPr indent="0" lvl="0" marL="0" rtl="0" algn="l">
              <a:spcBef>
                <a:spcPts val="0"/>
              </a:spcBef>
              <a:spcAft>
                <a:spcPts val="0"/>
              </a:spcAft>
              <a:buNone/>
            </a:pPr>
            <a:r>
              <a:rPr lang="en-US" sz="2100">
                <a:solidFill>
                  <a:srgbClr val="222222"/>
                </a:solidFill>
                <a:highlight>
                  <a:schemeClr val="lt1"/>
                </a:highlight>
              </a:rPr>
              <a:t>[5] Bortolotti, P., Tarres, H.C., Dykes, K., Merz, K., Sethuraman, L., Verelst, D. and Zahle, F., 2019. IEA Wind TCP Task 37: Systems engineering in wind energy- WP2.1 Reference wind turbines.</a:t>
            </a:r>
            <a:endParaRPr sz="2100">
              <a:solidFill>
                <a:srgbClr val="222222"/>
              </a:solidFill>
              <a:highlight>
                <a:schemeClr val="lt1"/>
              </a:highlight>
            </a:endParaRPr>
          </a:p>
          <a:p>
            <a:pPr indent="0" lvl="0" marL="0" rtl="0" algn="l">
              <a:spcBef>
                <a:spcPts val="0"/>
              </a:spcBef>
              <a:spcAft>
                <a:spcPts val="0"/>
              </a:spcAft>
              <a:buClr>
                <a:schemeClr val="dk1"/>
              </a:buClr>
              <a:buSzPts val="1100"/>
              <a:buFont typeface="Arial"/>
              <a:buNone/>
            </a:pPr>
            <a:r>
              <a:rPr lang="en-US" sz="2100">
                <a:solidFill>
                  <a:srgbClr val="222222"/>
                </a:solidFill>
                <a:highlight>
                  <a:schemeClr val="lt1"/>
                </a:highlight>
              </a:rPr>
              <a:t>[6] Brunton, S.L., Proctor, J.L. and Kutz, J.N., 2016. Discovering governing equations from data by sparse identification of nonlinear dynamical systems. </a:t>
            </a:r>
            <a:r>
              <a:rPr i="1" lang="en-US" sz="2100">
                <a:solidFill>
                  <a:srgbClr val="222222"/>
                </a:solidFill>
                <a:highlight>
                  <a:schemeClr val="lt1"/>
                </a:highlight>
              </a:rPr>
              <a:t>Proceedings of the national academy of sciences</a:t>
            </a:r>
            <a:r>
              <a:rPr lang="en-US" sz="2100">
                <a:solidFill>
                  <a:srgbClr val="222222"/>
                </a:solidFill>
                <a:highlight>
                  <a:schemeClr val="lt1"/>
                </a:highlight>
              </a:rPr>
              <a:t>, 113(15), pp.3932-3937.</a:t>
            </a:r>
            <a:endParaRPr sz="2100">
              <a:solidFill>
                <a:srgbClr val="222222"/>
              </a:solidFill>
              <a:highlight>
                <a:schemeClr val="lt1"/>
              </a:highlight>
            </a:endParaRPr>
          </a:p>
          <a:p>
            <a:pPr indent="0" lvl="0" marL="0" rtl="0" algn="l">
              <a:spcBef>
                <a:spcPts val="0"/>
              </a:spcBef>
              <a:spcAft>
                <a:spcPts val="0"/>
              </a:spcAft>
              <a:buClr>
                <a:schemeClr val="dk1"/>
              </a:buClr>
              <a:buSzPts val="1100"/>
              <a:buFont typeface="Arial"/>
              <a:buNone/>
            </a:pPr>
            <a:r>
              <a:rPr lang="en-US" sz="2100">
                <a:solidFill>
                  <a:schemeClr val="dk1"/>
                </a:solidFill>
              </a:rPr>
              <a:t>[7]</a:t>
            </a:r>
            <a:r>
              <a:rPr lang="en-US" sz="2100" u="sng">
                <a:solidFill>
                  <a:srgbClr val="1155CC"/>
                </a:solidFill>
                <a:hlinkClick r:id="rId10">
                  <a:extLst>
                    <a:ext uri="{A12FA001-AC4F-418D-AE19-62706E023703}">
                      <ahyp:hlinkClr val="tx"/>
                    </a:ext>
                  </a:extLst>
                </a:hlinkClick>
              </a:rPr>
              <a:t>https://milvus.io/ai-quick-reference/what-are-latent-diffusion-models-and-how-do-they-differ-from-pixelspace-diffusion</a:t>
            </a:r>
            <a:endParaRPr sz="2100">
              <a:solidFill>
                <a:srgbClr val="222222"/>
              </a:solidFill>
              <a:highlight>
                <a:schemeClr val="lt1"/>
              </a:highlight>
            </a:endParaRPr>
          </a:p>
          <a:p>
            <a:pPr indent="0" lvl="0" marL="0" rtl="0" algn="l">
              <a:spcBef>
                <a:spcPts val="0"/>
              </a:spcBef>
              <a:spcAft>
                <a:spcPts val="0"/>
              </a:spcAft>
              <a:buNone/>
            </a:pPr>
            <a:r>
              <a:rPr lang="en-US" sz="2000">
                <a:solidFill>
                  <a:srgbClr val="000000"/>
                </a:solidFill>
              </a:rPr>
              <a:t>[</a:t>
            </a:r>
            <a:r>
              <a:rPr lang="en-US" sz="2000"/>
              <a:t>8</a:t>
            </a:r>
            <a:r>
              <a:rPr lang="en-US" sz="2000">
                <a:solidFill>
                  <a:srgbClr val="000000"/>
                </a:solidFill>
              </a:rPr>
              <a:t>] Rombach, R., Blattmann, A., Lorenz, D., Esser, P., &amp; Ommer, B., </a:t>
            </a:r>
            <a:r>
              <a:rPr i="1" lang="en-US" sz="2000">
                <a:solidFill>
                  <a:srgbClr val="000000"/>
                </a:solidFill>
              </a:rPr>
              <a:t>Proceedings of the IEEE/CVF Conference on Computer Vision and Pattern Recognition (CVPR)</a:t>
            </a:r>
            <a:r>
              <a:rPr lang="en-US" sz="2000">
                <a:solidFill>
                  <a:srgbClr val="000000"/>
                </a:solidFill>
              </a:rPr>
              <a:t>, 2022, pp. 10684–10695.</a:t>
            </a:r>
            <a:endParaRPr sz="2000">
              <a:solidFill>
                <a:srgbClr val="000000"/>
              </a:solidFill>
            </a:endParaRPr>
          </a:p>
          <a:p>
            <a:pPr indent="0" lvl="0" marL="0" rtl="0" algn="l">
              <a:spcBef>
                <a:spcPts val="0"/>
              </a:spcBef>
              <a:spcAft>
                <a:spcPts val="0"/>
              </a:spcAft>
              <a:buNone/>
            </a:pPr>
            <a:r>
              <a:rPr lang="en-US" sz="2000">
                <a:solidFill>
                  <a:srgbClr val="000000"/>
                </a:solidFill>
              </a:rPr>
              <a:t>[</a:t>
            </a:r>
            <a:r>
              <a:rPr lang="en-US" sz="2000"/>
              <a:t>9</a:t>
            </a:r>
            <a:r>
              <a:rPr lang="en-US" sz="2000">
                <a:solidFill>
                  <a:srgbClr val="000000"/>
                </a:solidFill>
              </a:rPr>
              <a:t>] Z. Wang and T. Oates, </a:t>
            </a:r>
            <a:r>
              <a:rPr i="1" lang="en-US" sz="2000">
                <a:solidFill>
                  <a:srgbClr val="000000"/>
                </a:solidFill>
              </a:rPr>
              <a:t>arXiv preprint arXiv:1510.06104</a:t>
            </a:r>
            <a:r>
              <a:rPr lang="en-US" sz="2000">
                <a:solidFill>
                  <a:srgbClr val="000000"/>
                </a:solidFill>
              </a:rPr>
              <a:t>, 2015.</a:t>
            </a:r>
            <a:endParaRPr sz="2000">
              <a:solidFill>
                <a:srgbClr val="000000"/>
              </a:solidFill>
            </a:endParaRPr>
          </a:p>
          <a:p>
            <a:pPr indent="0" lvl="0" marL="0" rtl="0" algn="l">
              <a:spcBef>
                <a:spcPts val="0"/>
              </a:spcBef>
              <a:spcAft>
                <a:spcPts val="0"/>
              </a:spcAft>
              <a:buNone/>
            </a:pPr>
            <a:r>
              <a:rPr lang="en-US" sz="2000"/>
              <a:t>[10] </a:t>
            </a:r>
            <a:r>
              <a:rPr lang="en-US" sz="2000">
                <a:solidFill>
                  <a:schemeClr val="dk1"/>
                </a:solidFill>
              </a:rPr>
              <a:t>I. Loshchilov and F. Hutter, “SGDR: Stochastic Gradient Descent with Warm Restarts,” </a:t>
            </a:r>
            <a:r>
              <a:rPr i="1" lang="en-US" sz="2000">
                <a:solidFill>
                  <a:schemeClr val="dk1"/>
                </a:solidFill>
              </a:rPr>
              <a:t>International Conference on Learning Representations (ICLR)</a:t>
            </a:r>
            <a:r>
              <a:rPr lang="en-US" sz="2000">
                <a:solidFill>
                  <a:schemeClr val="dk1"/>
                </a:solidFill>
              </a:rPr>
              <a:t>, 2017. [Online].</a:t>
            </a:r>
            <a:endParaRPr sz="2000"/>
          </a:p>
          <a:p>
            <a:pPr indent="-736600" lvl="0" marL="9144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a:p>
            <a:pPr indent="-800100" lvl="0" marL="9144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br>
              <a:rPr b="0" i="0" lang="en-US" sz="2800" u="none" cap="none" strike="noStrike">
                <a:solidFill>
                  <a:srgbClr val="FFFFFF"/>
                </a:solidFill>
                <a:latin typeface="Arial"/>
                <a:ea typeface="Arial"/>
                <a:cs typeface="Arial"/>
                <a:sym typeface="Arial"/>
              </a:rPr>
            </a:br>
            <a:endParaRPr b="1" i="0" sz="2000" u="none" cap="none" strike="noStrike">
              <a:solidFill>
                <a:srgbClr val="000000"/>
              </a:solidFill>
              <a:latin typeface="Arial"/>
              <a:ea typeface="Arial"/>
              <a:cs typeface="Arial"/>
              <a:sym typeface="Arial"/>
            </a:endParaRPr>
          </a:p>
          <a:p>
            <a:pPr indent="-787400" lvl="0" marL="9144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787400" lvl="0" marL="9144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110" name="Google Shape;110;p1"/>
          <p:cNvSpPr/>
          <p:nvPr/>
        </p:nvSpPr>
        <p:spPr>
          <a:xfrm>
            <a:off x="289275" y="8505075"/>
            <a:ext cx="13269900" cy="43575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2</a:t>
            </a:r>
            <a:r>
              <a:rPr b="1" i="0" lang="en-US" sz="3500" u="none" cap="none" strike="noStrike">
                <a:solidFill>
                  <a:srgbClr val="000000"/>
                </a:solidFill>
                <a:latin typeface="Arial"/>
                <a:ea typeface="Arial"/>
                <a:cs typeface="Arial"/>
                <a:sym typeface="Arial"/>
              </a:rPr>
              <a:t>. </a:t>
            </a:r>
            <a:r>
              <a:rPr b="1" lang="en-US" sz="3500"/>
              <a:t>Background</a:t>
            </a:r>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816375" y="9133950"/>
            <a:ext cx="12439500" cy="3555600"/>
          </a:xfrm>
          <a:prstGeom prst="rect">
            <a:avLst/>
          </a:prstGeom>
          <a:noFill/>
          <a:ln>
            <a:noFill/>
          </a:ln>
        </p:spPr>
        <p:txBody>
          <a:bodyPr anchorCtr="0" anchor="t" bIns="45700" lIns="91425" spcFirstLastPara="1" rIns="91425" wrap="square" tIns="45700">
            <a:spAutoFit/>
          </a:bodyPr>
          <a:lstStyle/>
          <a:p>
            <a:pPr indent="0" lvl="0" marL="0" rtl="0" algn="just">
              <a:lnSpc>
                <a:spcPct val="100000"/>
              </a:lnSpc>
              <a:spcBef>
                <a:spcPts val="1200"/>
              </a:spcBef>
              <a:spcAft>
                <a:spcPts val="1200"/>
              </a:spcAft>
              <a:buClr>
                <a:srgbClr val="000000"/>
              </a:buClr>
              <a:buSzPts val="1100"/>
              <a:buFont typeface="Arial"/>
              <a:buNone/>
            </a:pPr>
            <a:r>
              <a:rPr lang="en-US" sz="2500">
                <a:solidFill>
                  <a:srgbClr val="000000"/>
                </a:solidFill>
              </a:rPr>
              <a:t>Offshore wind turbines are rapidly growing in size to increase energy output, but this introduces greater complexity during installation. Blade mating (Figure 1a–1b) is the most critical phase [1], requiring precise alignment while the turbine is in the hammerhead configuration (Figure 1c), with the monopile, transition piece, and nacelle already installed. Due to an offset between the tower axis and the nacelle center of gravity, wave-induced lateral motion generates torsional excitation about the tower axis. This coupling of lateral and longitudinal dynamics produces complex orbital motions at the tower top (Figure 1d), which can lead to collisions, delays, and safety risks during installation.</a:t>
            </a:r>
            <a:endParaRPr sz="2500">
              <a:solidFill>
                <a:srgbClr val="000000"/>
              </a:solidFill>
            </a:endParaRPr>
          </a:p>
        </p:txBody>
      </p:sp>
      <p:pic>
        <p:nvPicPr>
          <p:cNvPr id="112" name="Google Shape;112;p1"/>
          <p:cNvPicPr preferRelativeResize="0"/>
          <p:nvPr/>
        </p:nvPicPr>
        <p:blipFill rotWithShape="1">
          <a:blip r:embed="rId11">
            <a:alphaModFix/>
          </a:blip>
          <a:srcRect b="12671" l="0" r="0" t="0"/>
          <a:stretch/>
        </p:blipFill>
        <p:spPr>
          <a:xfrm>
            <a:off x="14787850" y="5589588"/>
            <a:ext cx="5929113" cy="5512975"/>
          </a:xfrm>
          <a:prstGeom prst="rect">
            <a:avLst/>
          </a:prstGeom>
          <a:noFill/>
          <a:ln>
            <a:noFill/>
          </a:ln>
        </p:spPr>
      </p:pic>
      <p:sp>
        <p:nvSpPr>
          <p:cNvPr id="113" name="Google Shape;113;p1"/>
          <p:cNvSpPr txBox="1"/>
          <p:nvPr/>
        </p:nvSpPr>
        <p:spPr>
          <a:xfrm>
            <a:off x="13978663" y="11230263"/>
            <a:ext cx="7590900" cy="1486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US" sz="1900">
                <a:solidFill>
                  <a:srgbClr val="000000"/>
                </a:solidFill>
              </a:rPr>
              <a:t>Figure 1: (a) OWT blade mating process using jack-up crane vessel [2] (b) Close-up view of blade root mating phase [3] (c) Top view: Hammerhead configuration of offshore wind turbine (d) Orbital motion of the nacelle COG during mating process</a:t>
            </a:r>
            <a:endParaRPr b="1" sz="1900">
              <a:solidFill>
                <a:srgbClr val="000000"/>
              </a:solidFill>
            </a:endParaRPr>
          </a:p>
        </p:txBody>
      </p:sp>
      <p:sp>
        <p:nvSpPr>
          <p:cNvPr id="114" name="Google Shape;114;p1"/>
          <p:cNvSpPr/>
          <p:nvPr/>
        </p:nvSpPr>
        <p:spPr>
          <a:xfrm>
            <a:off x="21945600" y="5319063"/>
            <a:ext cx="21556200" cy="284958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4. Data and Results</a:t>
            </a:r>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5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None/>
            </a:pPr>
            <a:r>
              <a:t/>
            </a:r>
            <a:endParaRPr b="1" i="0" sz="1400" u="none" cap="none" strike="noStrike">
              <a:solidFill>
                <a:srgbClr val="FFFFFF"/>
              </a:solidFill>
              <a:latin typeface="Arial"/>
              <a:ea typeface="Arial"/>
              <a:cs typeface="Arial"/>
              <a:sym typeface="Arial"/>
            </a:endParaRPr>
          </a:p>
        </p:txBody>
      </p:sp>
      <p:sp>
        <p:nvSpPr>
          <p:cNvPr id="115" name="Google Shape;115;p1"/>
          <p:cNvSpPr/>
          <p:nvPr/>
        </p:nvSpPr>
        <p:spPr>
          <a:xfrm>
            <a:off x="289300" y="5295925"/>
            <a:ext cx="13269900" cy="28770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1</a:t>
            </a:r>
            <a:r>
              <a:rPr b="1" i="0" lang="en-US" sz="3500" u="none" cap="none" strike="noStrike">
                <a:solidFill>
                  <a:srgbClr val="000000"/>
                </a:solidFill>
                <a:latin typeface="Arial"/>
                <a:ea typeface="Arial"/>
                <a:cs typeface="Arial"/>
                <a:sym typeface="Arial"/>
              </a:rPr>
              <a:t>. </a:t>
            </a:r>
            <a:r>
              <a:rPr b="1" lang="en-US" sz="3500"/>
              <a:t>Objectives and Goals</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2500">
              <a:solidFill>
                <a:srgbClr val="000000"/>
              </a:solidFil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
          <p:cNvSpPr txBox="1"/>
          <p:nvPr/>
        </p:nvSpPr>
        <p:spPr>
          <a:xfrm>
            <a:off x="816375" y="5975150"/>
            <a:ext cx="12439500" cy="21087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1200"/>
              </a:spcBef>
              <a:spcAft>
                <a:spcPts val="1200"/>
              </a:spcAft>
              <a:buNone/>
            </a:pPr>
            <a:r>
              <a:rPr lang="en-US" sz="2500"/>
              <a:t>This study presents a physics-informed AI model, leveraging Sparse Identification of Nonlinear Dynamical Systems (SINDy), to predict tower-top orbital motions in real-time across a wide range of sea states. By delivering fast, interpretable forecasts, the model underpins informed, time-critical decisions that improve safety and operational efficiency during offshore wind turbine blade installation.</a:t>
            </a:r>
            <a:endParaRPr sz="2500">
              <a:solidFill>
                <a:srgbClr val="000000"/>
              </a:solidFill>
            </a:endParaRPr>
          </a:p>
        </p:txBody>
      </p:sp>
      <p:sp>
        <p:nvSpPr>
          <p:cNvPr id="117" name="Google Shape;117;p1"/>
          <p:cNvSpPr/>
          <p:nvPr/>
        </p:nvSpPr>
        <p:spPr>
          <a:xfrm>
            <a:off x="332600" y="13031682"/>
            <a:ext cx="21366900" cy="304578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solidFill>
                  <a:srgbClr val="000000"/>
                </a:solidFill>
              </a:rPr>
              <a:t>3</a:t>
            </a:r>
            <a:r>
              <a:rPr b="1" lang="en-US" sz="3500">
                <a:solidFill>
                  <a:srgbClr val="000000"/>
                </a:solidFill>
                <a:extLst>
                  <a:ext uri="http://customooxmlschemas.google.com/">
                    <go:slidesCustomData xmlns:go="http://customooxmlschemas.google.com/" textRoundtripDataId="0"/>
                  </a:ext>
                </a:extLst>
              </a:rPr>
              <a:t>.</a:t>
            </a:r>
            <a:r>
              <a:rPr b="1" lang="en-US" sz="3500"/>
              <a:t> Numerical Setup</a:t>
            </a:r>
            <a:endParaRPr b="1" sz="3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1100">
              <a:solidFill>
                <a:schemeClr val="dk1"/>
              </a:solidFill>
            </a:endParaRPr>
          </a:p>
          <a:p>
            <a:pPr indent="0" lvl="0" marL="0" marR="0" rtl="0" algn="l">
              <a:lnSpc>
                <a:spcPct val="100000"/>
              </a:lnSpc>
              <a:spcBef>
                <a:spcPts val="0"/>
              </a:spcBef>
              <a:spcAft>
                <a:spcPts val="0"/>
              </a:spcAft>
              <a:buNone/>
            </a:pPr>
            <a:r>
              <a:t/>
            </a:r>
            <a:endParaRPr sz="11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solidFill>
                <a:schemeClr val="dk1"/>
              </a:solidFill>
            </a:endParaRPr>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marR="0" rtl="0" algn="l">
              <a:lnSpc>
                <a:spcPct val="100000"/>
              </a:lnSpc>
              <a:spcBef>
                <a:spcPts val="0"/>
              </a:spcBef>
              <a:spcAft>
                <a:spcPts val="0"/>
              </a:spcAft>
              <a:buNone/>
            </a:pPr>
            <a:r>
              <a:t/>
            </a:r>
            <a:endParaRPr sz="2500"/>
          </a:p>
          <a:p>
            <a:pPr indent="0" lvl="0" marL="0" rtl="0" algn="l">
              <a:lnSpc>
                <a:spcPct val="115000"/>
              </a:lnSpc>
              <a:spcBef>
                <a:spcPts val="1200"/>
              </a:spcBef>
              <a:spcAft>
                <a:spcPts val="0"/>
              </a:spcAft>
              <a:buClr>
                <a:schemeClr val="dk1"/>
              </a:buClr>
              <a:buSzPts val="1100"/>
              <a:buFont typeface="Arial"/>
              <a:buNone/>
            </a:pPr>
            <a:r>
              <a:rPr lang="en-US" sz="2500">
                <a:solidFill>
                  <a:schemeClr val="dk1"/>
                </a:solidFill>
              </a:rPr>
              <a:t>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500">
              <a:solidFill>
                <a:schemeClr val="dk1"/>
              </a:solidFill>
            </a:endParaRPr>
          </a:p>
          <a:p>
            <a:pPr indent="0" lvl="0" marL="0" rtl="0" algn="just">
              <a:spcBef>
                <a:spcPts val="1200"/>
              </a:spcBef>
              <a:spcAft>
                <a:spcPts val="0"/>
              </a:spcAft>
              <a:buClr>
                <a:schemeClr val="dk1"/>
              </a:buClr>
              <a:buSzPts val="1100"/>
              <a:buFont typeface="Arial"/>
              <a:buNone/>
            </a:pPr>
            <a:r>
              <a:t/>
            </a:r>
            <a:endParaRPr sz="2500">
              <a:solidFill>
                <a:schemeClr val="dk1"/>
              </a:solidFill>
            </a:endParaRPr>
          </a:p>
          <a:p>
            <a:pPr indent="0" lvl="0" marL="0" rtl="0" algn="just">
              <a:spcBef>
                <a:spcPts val="0"/>
              </a:spcBef>
              <a:spcAft>
                <a:spcPts val="0"/>
              </a:spcAft>
              <a:buClr>
                <a:schemeClr val="dk1"/>
              </a:buClr>
              <a:buSzPts val="1100"/>
              <a:buFont typeface="Arial"/>
              <a:buNone/>
            </a:pPr>
            <a:r>
              <a:t/>
            </a:r>
            <a:endParaRPr sz="2500">
              <a:solidFill>
                <a:schemeClr val="dk1"/>
              </a:solidFil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500" u="none" cap="none" strike="noStrike">
              <a:solidFill>
                <a:srgbClr val="000000"/>
              </a:solidFill>
              <a:latin typeface="Arial"/>
              <a:ea typeface="Arial"/>
              <a:cs typeface="Arial"/>
              <a:sym typeface="Arial"/>
            </a:endParaRPr>
          </a:p>
        </p:txBody>
      </p:sp>
      <p:graphicFrame>
        <p:nvGraphicFramePr>
          <p:cNvPr id="118" name="Google Shape;118;p1"/>
          <p:cNvGraphicFramePr/>
          <p:nvPr/>
        </p:nvGraphicFramePr>
        <p:xfrm>
          <a:off x="36207938" y="29713642"/>
          <a:ext cx="3000000" cy="3000000"/>
        </p:xfrm>
        <a:graphic>
          <a:graphicData uri="http://schemas.openxmlformats.org/drawingml/2006/table">
            <a:tbl>
              <a:tblPr>
                <a:noFill/>
                <a:tableStyleId>{B1E552D3-1F85-4906-A1E6-860F83AD6C01}</a:tableStyleId>
              </a:tblPr>
              <a:tblGrid>
                <a:gridCol w="2964575"/>
                <a:gridCol w="2964575"/>
              </a:tblGrid>
              <a:tr h="774050">
                <a:tc>
                  <a:txBody>
                    <a:bodyPr/>
                    <a:lstStyle/>
                    <a:p>
                      <a:pPr indent="0" lvl="0" marL="0" rtl="0" algn="l">
                        <a:spcBef>
                          <a:spcPts val="0"/>
                        </a:spcBef>
                        <a:spcAft>
                          <a:spcPts val="0"/>
                        </a:spcAft>
                        <a:buNone/>
                      </a:pPr>
                      <a:r>
                        <a:rPr b="1" lang="en-US" sz="2400"/>
                        <a:t>Batch</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US" sz="2400">
                          <a:solidFill>
                            <a:srgbClr val="000000"/>
                          </a:solidFill>
                        </a:rPr>
                        <a:t>Mean Absolute Error</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2"/>
                    </a:solidFill>
                  </a:tcPr>
                </a:tc>
              </a:tr>
              <a:tr h="706650">
                <a:tc>
                  <a:txBody>
                    <a:bodyPr/>
                    <a:lstStyle/>
                    <a:p>
                      <a:pPr indent="0" lvl="0" marL="0" rtl="0" algn="l">
                        <a:spcBef>
                          <a:spcPts val="0"/>
                        </a:spcBef>
                        <a:spcAft>
                          <a:spcPts val="0"/>
                        </a:spcAft>
                        <a:buNone/>
                      </a:pPr>
                      <a:r>
                        <a:rPr b="1" lang="en-US" sz="2400"/>
                        <a:t>Training</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3.76 mm</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06650">
                <a:tc>
                  <a:txBody>
                    <a:bodyPr/>
                    <a:lstStyle/>
                    <a:p>
                      <a:pPr indent="0" lvl="0" marL="0" rtl="0" algn="l">
                        <a:spcBef>
                          <a:spcPts val="0"/>
                        </a:spcBef>
                        <a:spcAft>
                          <a:spcPts val="0"/>
                        </a:spcAft>
                        <a:buNone/>
                      </a:pPr>
                      <a:r>
                        <a:rPr b="1" lang="en-US" sz="2400"/>
                        <a:t>Training w/ PINN</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3.63 mm</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06650">
                <a:tc>
                  <a:txBody>
                    <a:bodyPr/>
                    <a:lstStyle/>
                    <a:p>
                      <a:pPr indent="0" lvl="0" marL="0" rtl="0" algn="l">
                        <a:spcBef>
                          <a:spcPts val="0"/>
                        </a:spcBef>
                        <a:spcAft>
                          <a:spcPts val="0"/>
                        </a:spcAft>
                        <a:buNone/>
                      </a:pPr>
                      <a:r>
                        <a:rPr b="1" lang="en-US" sz="2400"/>
                        <a:t>Testing</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3.73 mm</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06650">
                <a:tc>
                  <a:txBody>
                    <a:bodyPr/>
                    <a:lstStyle/>
                    <a:p>
                      <a:pPr indent="0" lvl="0" marL="0" rtl="0" algn="l">
                        <a:spcBef>
                          <a:spcPts val="0"/>
                        </a:spcBef>
                        <a:spcAft>
                          <a:spcPts val="0"/>
                        </a:spcAft>
                        <a:buNone/>
                      </a:pPr>
                      <a:r>
                        <a:rPr b="1" lang="en-US" sz="2400">
                          <a:solidFill>
                            <a:schemeClr val="dk1"/>
                          </a:solidFill>
                        </a:rPr>
                        <a:t>Testing </a:t>
                      </a:r>
                      <a:r>
                        <a:rPr b="1" lang="en-US" sz="2400"/>
                        <a:t>w/ PINN</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3.60 mm</a:t>
                      </a:r>
                      <a:endParaRPr b="1" sz="2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9" name="Google Shape;119;p1"/>
          <p:cNvSpPr txBox="1"/>
          <p:nvPr/>
        </p:nvSpPr>
        <p:spPr>
          <a:xfrm>
            <a:off x="22509400" y="5975150"/>
            <a:ext cx="20754900" cy="1318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US" sz="2500">
                <a:solidFill>
                  <a:srgbClr val="000000"/>
                </a:solidFill>
                <a:extLst>
                  <a:ext uri="http://customooxmlschemas.google.com/">
                    <go:slidesCustomData xmlns:go="http://customooxmlschemas.google.com/" textRoundtripDataId="1"/>
                  </a:ext>
                </a:extLst>
              </a:rPr>
              <a:t>A high-fidelity numerical model of the </a:t>
            </a:r>
            <a:r>
              <a:rPr lang="en-US" sz="2500">
                <a:extLst>
                  <a:ext uri="http://customooxmlschemas.google.com/">
                    <go:slidesCustomData xmlns:go="http://customooxmlschemas.google.com/" textRoundtripDataId="2"/>
                  </a:ext>
                </a:extLst>
              </a:rPr>
              <a:t>IEA 10 MW turbine </a:t>
            </a:r>
            <a:r>
              <a:rPr lang="en-US" sz="2500">
                <a:solidFill>
                  <a:srgbClr val="000000"/>
                </a:solidFill>
                <a:extLst>
                  <a:ext uri="http://customooxmlschemas.google.com/">
                    <go:slidesCustomData xmlns:go="http://customooxmlschemas.google.com/" textRoundtripDataId="3"/>
                  </a:ext>
                </a:extLst>
              </a:rPr>
              <a:t>was developed using OrcaFlex</a:t>
            </a:r>
            <a:r>
              <a:rPr lang="en-US" sz="2500">
                <a:solidFill>
                  <a:srgbClr val="000000"/>
                </a:solidFill>
                <a:extLst>
                  <a:ext uri="http://customooxmlschemas.google.com/">
                    <go:slidesCustomData xmlns:go="http://customooxmlschemas.google.com/" textRoundtripDataId="4"/>
                  </a:ext>
                </a:extLst>
              </a:rPr>
              <a:t>, which is a dynamic analysis tool for offshore systems. </a:t>
            </a:r>
            <a:r>
              <a:rPr lang="en-US" sz="2500">
                <a:solidFill>
                  <a:srgbClr val="000000"/>
                </a:solidFill>
                <a:extLst>
                  <a:ext uri="http://customooxmlschemas.google.com/">
                    <go:slidesCustomData xmlns:go="http://customooxmlschemas.google.com/" textRoundtripDataId="5"/>
                  </a:ext>
                </a:extLst>
              </a:rPr>
              <a:t>The tower and monopile were modeled as Timoshenko beams, and the nacelle as a rigid eccentric point mass, with blades and controllers excluded. </a:t>
            </a:r>
            <a:r>
              <a:rPr lang="en-US" sz="2500"/>
              <a:t>Irregular-wave load cases spanned a full campaign of 7,440 simulations. The base grid combined significant wave heights (H</a:t>
            </a:r>
            <a:r>
              <a:rPr baseline="-25000" lang="en-US" sz="2500"/>
              <a:t>s</a:t>
            </a:r>
            <a:r>
              <a:rPr lang="en-US" sz="2500"/>
              <a:t>) of 1, 2, and 3 meters with peak periods (</a:t>
            </a:r>
            <a:r>
              <a:rPr lang="en-US" sz="2500">
                <a:solidFill>
                  <a:schemeClr val="dk1"/>
                </a:solidFill>
              </a:rPr>
              <a:t>T</a:t>
            </a:r>
            <a:r>
              <a:rPr baseline="-25000" lang="en-US" sz="2500">
                <a:solidFill>
                  <a:schemeClr val="dk1"/>
                </a:solidFill>
              </a:rPr>
              <a:t>p</a:t>
            </a:r>
            <a:r>
              <a:rPr lang="en-US" sz="2500">
                <a:solidFill>
                  <a:schemeClr val="dk1"/>
                </a:solidFill>
              </a:rPr>
              <a:t>) </a:t>
            </a:r>
            <a:r>
              <a:rPr lang="en-US" sz="2500"/>
              <a:t>of 3, 5, 7, and 9 seconds and wave directions (θ</a:t>
            </a:r>
            <a:r>
              <a:rPr baseline="-25000" lang="en-US" sz="2500"/>
              <a:t>wv</a:t>
            </a:r>
            <a:r>
              <a:rPr lang="en-US" sz="2500"/>
              <a:t>) of 20, 30, 40, 50, 60, and 70 degrees, using 100 random seeds per combination (7,200 cases). This was augmented with additional directions at 10 and 80 degrees, using 10 seeds per combination (240 cases). Each simulation produced a 10-minute time series of nacelle motion in the fore-aft (X) and side-side (Y) directions, and the wave elevation was recorded for every case. Figure 4 shows representative orbital patterns across these sea states.</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lnSpc>
                <a:spcPct val="115000"/>
              </a:lnSpc>
              <a:spcBef>
                <a:spcPts val="1200"/>
              </a:spcBef>
              <a:spcAft>
                <a:spcPts val="0"/>
              </a:spcAft>
              <a:buClr>
                <a:schemeClr val="dk1"/>
              </a:buClr>
              <a:buSzPts val="1100"/>
              <a:buFont typeface="Arial"/>
              <a:buNone/>
            </a:pPr>
            <a:r>
              <a:t/>
            </a:r>
            <a:endParaRPr sz="24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400">
                <a:solidFill>
                  <a:schemeClr val="dk1"/>
                </a:solidFill>
              </a:rPr>
              <a:t>The first stage in developing the motion prediction framework involved training the </a:t>
            </a:r>
            <a:r>
              <a:rPr b="1" lang="en-US" sz="2400">
                <a:solidFill>
                  <a:schemeClr val="dk1"/>
                </a:solidFill>
              </a:rPr>
              <a:t>physics-informed autoencoder (AE)</a:t>
            </a:r>
            <a:r>
              <a:rPr lang="en-US" sz="2400">
                <a:solidFill>
                  <a:schemeClr val="dk1"/>
                </a:solidFill>
              </a:rPr>
              <a:t>. Before training, </a:t>
            </a:r>
            <a:r>
              <a:rPr b="1" lang="en-US" sz="2400">
                <a:solidFill>
                  <a:schemeClr val="dk1"/>
                </a:solidFill>
              </a:rPr>
              <a:t>Gramian Angular Summation Field (GASF)</a:t>
            </a:r>
            <a:r>
              <a:rPr lang="en-US" sz="2400">
                <a:solidFill>
                  <a:schemeClr val="dk1"/>
                </a:solidFill>
              </a:rPr>
              <a:t> images were generated from nacelle motion time series and paired with their corresponding </a:t>
            </a:r>
            <a:r>
              <a:rPr b="1" lang="en-US" sz="2400">
                <a:solidFill>
                  <a:schemeClr val="dk1"/>
                </a:solidFill>
              </a:rPr>
              <a:t>wave height and wave parameter</a:t>
            </a:r>
            <a:r>
              <a:rPr lang="en-US" sz="2400">
                <a:solidFill>
                  <a:schemeClr val="dk1"/>
                </a:solidFill>
              </a:rPr>
              <a:t> data. The dataset was divided into balanced </a:t>
            </a:r>
            <a:r>
              <a:rPr b="1" lang="en-US" sz="2400">
                <a:solidFill>
                  <a:schemeClr val="dk1"/>
                </a:solidFill>
              </a:rPr>
              <a:t>training and testing subsets</a:t>
            </a:r>
            <a:r>
              <a:rPr lang="en-US" sz="2400">
                <a:solidFill>
                  <a:schemeClr val="dk1"/>
                </a:solidFill>
              </a:rPr>
              <a:t> as described in the Numerical Setup.</a:t>
            </a:r>
            <a:endParaRPr sz="24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400">
                <a:solidFill>
                  <a:schemeClr val="dk1"/>
                </a:solidFill>
              </a:rPr>
              <a:t>During training, the AE and </a:t>
            </a:r>
            <a:r>
              <a:rPr b="1" lang="en-US" sz="2400">
                <a:solidFill>
                  <a:schemeClr val="dk1"/>
                </a:solidFill>
              </a:rPr>
              <a:t>discriminator</a:t>
            </a:r>
            <a:r>
              <a:rPr lang="en-US" sz="2400">
                <a:solidFill>
                  <a:schemeClr val="dk1"/>
                </a:solidFill>
              </a:rPr>
              <a:t> were optimized in alternating steps. For each AE epoch, the discriminator was first trained on reconstructed GASF images using a logarithmic loss that increases when it confidently identifies real images as “1” and reconstructed images as “0.” Training continued until the </a:t>
            </a:r>
            <a:r>
              <a:rPr lang="en-US" sz="2400">
                <a:solidFill>
                  <a:schemeClr val="dk1"/>
                </a:solidFill>
              </a:rPr>
              <a:t>discriminator</a:t>
            </a:r>
            <a:r>
              <a:rPr lang="en-US" sz="2400">
                <a:solidFill>
                  <a:schemeClr val="dk1"/>
                </a:solidFill>
              </a:rPr>
              <a:t> average confidence exceeded </a:t>
            </a:r>
            <a:r>
              <a:rPr b="1" lang="en-US" sz="2400">
                <a:solidFill>
                  <a:schemeClr val="dk1"/>
                </a:solidFill>
              </a:rPr>
              <a:t>0.85</a:t>
            </a:r>
            <a:r>
              <a:rPr lang="en-US" sz="2400">
                <a:solidFill>
                  <a:schemeClr val="dk1"/>
                </a:solidFill>
              </a:rPr>
              <a:t> for real images and dropped below </a:t>
            </a:r>
            <a:r>
              <a:rPr b="1" lang="en-US" sz="2400">
                <a:solidFill>
                  <a:schemeClr val="dk1"/>
                </a:solidFill>
              </a:rPr>
              <a:t>0.25</a:t>
            </a:r>
            <a:r>
              <a:rPr lang="en-US" sz="2400">
                <a:solidFill>
                  <a:schemeClr val="dk1"/>
                </a:solidFill>
              </a:rPr>
              <a:t> for reconstructions, ensuring stable adversarial feedback (see Fig. 6)</a:t>
            </a:r>
            <a:endParaRPr sz="24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400">
                <a:solidFill>
                  <a:schemeClr val="dk1"/>
                </a:solidFill>
              </a:rPr>
              <a:t>The AE was then trained to minimize a </a:t>
            </a:r>
            <a:r>
              <a:rPr b="1" lang="en-US" sz="2400">
                <a:solidFill>
                  <a:schemeClr val="dk1"/>
                </a:solidFill>
              </a:rPr>
              <a:t>weighted sum of seven losses</a:t>
            </a:r>
            <a:r>
              <a:rPr lang="en-US" sz="2400">
                <a:solidFill>
                  <a:schemeClr val="dk1"/>
                </a:solidFill>
              </a:rPr>
              <a:t> - including reconstruction, time-series, spectral, latent regularization, adversarial, symmetry, and physics-informed terms. </a:t>
            </a:r>
            <a:r>
              <a:rPr lang="en-US" sz="2400">
                <a:solidFill>
                  <a:schemeClr val="dk1"/>
                </a:solidFill>
                <a:extLst>
                  <a:ext uri="http://customooxmlschemas.google.com/">
                    <go:slidesCustomData xmlns:go="http://customooxmlschemas.google.com/" textRoundtripDataId="6"/>
                  </a:ext>
                </a:extLst>
              </a:rPr>
              <a:t>A </a:t>
            </a:r>
            <a:r>
              <a:rPr b="1" lang="en-US" sz="2400">
                <a:solidFill>
                  <a:schemeClr val="dk1"/>
                </a:solidFill>
                <a:extLst>
                  <a:ext uri="http://customooxmlschemas.google.com/">
                    <go:slidesCustomData xmlns:go="http://customooxmlschemas.google.com/" textRoundtripDataId="7"/>
                  </a:ext>
                </a:extLst>
              </a:rPr>
              <a:t>Cosine Annealing with Warm Restarts [10]</a:t>
            </a:r>
            <a:r>
              <a:rPr lang="en-US" sz="2400">
                <a:solidFill>
                  <a:schemeClr val="dk1"/>
                </a:solidFill>
                <a:extLst>
                  <a:ext uri="http://customooxmlschemas.google.com/">
                    <go:slidesCustomData xmlns:go="http://customooxmlschemas.google.com/" textRoundtripDataId="8"/>
                  </a:ext>
                </a:extLst>
              </a:rPr>
              <a:t> learning-rate schedule (Fig. 7) </a:t>
            </a:r>
            <a:r>
              <a:rPr lang="en-US" sz="2400">
                <a:solidFill>
                  <a:schemeClr val="dk1"/>
                </a:solidFill>
              </a:rPr>
              <a:t>was applied to promote convergence and prevent overfitting. The AE was trained for </a:t>
            </a:r>
            <a:r>
              <a:rPr b="1" lang="en-US" sz="2400">
                <a:solidFill>
                  <a:schemeClr val="dk1"/>
                </a:solidFill>
              </a:rPr>
              <a:t>224 epochs</a:t>
            </a:r>
            <a:r>
              <a:rPr lang="en-US" sz="2400">
                <a:solidFill>
                  <a:schemeClr val="dk1"/>
                </a:solidFill>
              </a:rPr>
              <a:t> without the physics term and fine-tuned for </a:t>
            </a:r>
            <a:r>
              <a:rPr b="1" lang="en-US" sz="2400">
                <a:solidFill>
                  <a:schemeClr val="dk1"/>
                </a:solidFill>
              </a:rPr>
              <a:t>32 epochs</a:t>
            </a:r>
            <a:r>
              <a:rPr lang="en-US" sz="2400">
                <a:solidFill>
                  <a:schemeClr val="dk1"/>
                </a:solidFill>
              </a:rPr>
              <a:t> with the </a:t>
            </a:r>
            <a:r>
              <a:rPr b="1" lang="en-US" sz="2400">
                <a:solidFill>
                  <a:schemeClr val="dk1"/>
                </a:solidFill>
              </a:rPr>
              <a:t>SINDy-based physics loss</a:t>
            </a:r>
            <a:r>
              <a:rPr lang="en-US" sz="2400">
                <a:solidFill>
                  <a:schemeClr val="dk1"/>
                </a:solidFill>
              </a:rPr>
              <a:t> at a reduced learning rate. This staged process improved reconstruction fidelity and physical coherence, yielding accurate, reversible latent representations for subsequent LDM training.</a:t>
            </a:r>
            <a:endParaRPr sz="2400">
              <a:solidFill>
                <a:schemeClr val="dk1"/>
              </a:solidFill>
            </a:endParaRPr>
          </a:p>
          <a:p>
            <a:pPr indent="0" lvl="0" marL="0" rtl="0" algn="just">
              <a:spcBef>
                <a:spcPts val="1200"/>
              </a:spcBef>
              <a:spcAft>
                <a:spcPts val="0"/>
              </a:spcAft>
              <a:buClr>
                <a:srgbClr val="000000"/>
              </a:buClr>
              <a:buSzPts val="1100"/>
              <a:buFont typeface="Arial"/>
              <a:buNone/>
            </a:pPr>
            <a:r>
              <a:t/>
            </a:r>
            <a:endParaRPr sz="2500"/>
          </a:p>
          <a:p>
            <a:pPr indent="0" lvl="0" marL="0" rtl="0" algn="just">
              <a:spcBef>
                <a:spcPts val="0"/>
              </a:spcBef>
              <a:spcAft>
                <a:spcPts val="0"/>
              </a:spcAft>
              <a:buClr>
                <a:srgbClr val="000000"/>
              </a:buClr>
              <a:buSzPts val="1100"/>
              <a:buFont typeface="Arial"/>
              <a:buNone/>
            </a:pPr>
            <a:r>
              <a:t/>
            </a:r>
            <a:endParaRPr sz="2500"/>
          </a:p>
          <a:p>
            <a:pPr indent="0" lvl="0" marL="0" rtl="0" algn="just">
              <a:spcBef>
                <a:spcPts val="0"/>
              </a:spcBef>
              <a:spcAft>
                <a:spcPts val="0"/>
              </a:spcAft>
              <a:buNone/>
            </a:pPr>
            <a:r>
              <a:t/>
            </a:r>
            <a:endParaRPr sz="2700">
              <a:solidFill>
                <a:srgbClr val="595959"/>
              </a:solidFill>
            </a:endParaRPr>
          </a:p>
        </p:txBody>
      </p:sp>
      <p:sp>
        <p:nvSpPr>
          <p:cNvPr id="120" name="Google Shape;120;p1"/>
          <p:cNvSpPr/>
          <p:nvPr/>
        </p:nvSpPr>
        <p:spPr>
          <a:xfrm>
            <a:off x="21909350" y="34063025"/>
            <a:ext cx="14176500" cy="39714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5. Conclusion</a:t>
            </a:r>
            <a:endParaRPr sz="1800">
              <a:solidFill>
                <a:schemeClr val="dk1"/>
              </a:solidFill>
            </a:endParaRPr>
          </a:p>
          <a:p>
            <a:pPr indent="0" lvl="0" marL="0" rtl="0" algn="l">
              <a:spcBef>
                <a:spcPts val="0"/>
              </a:spcBef>
              <a:spcAft>
                <a:spcPts val="0"/>
              </a:spcAft>
              <a:buClr>
                <a:srgbClr val="000000"/>
              </a:buClr>
              <a:buSzPts val="1100"/>
              <a:buFont typeface="Arial"/>
              <a:buNone/>
            </a:pPr>
            <a:r>
              <a:t/>
            </a:r>
            <a:endParaRPr sz="2500"/>
          </a:p>
          <a:p>
            <a:pPr indent="0" lvl="0" marL="0" marR="0" rtl="0" algn="l">
              <a:lnSpc>
                <a:spcPct val="100000"/>
              </a:lnSpc>
              <a:spcBef>
                <a:spcPts val="0"/>
              </a:spcBef>
              <a:spcAft>
                <a:spcPts val="0"/>
              </a:spcAft>
              <a:buNone/>
            </a:pPr>
            <a:r>
              <a:t/>
            </a:r>
            <a:endParaRPr sz="2500">
              <a:solidFill>
                <a:srgbClr val="000000"/>
              </a:solidFill>
            </a:endParaRPr>
          </a:p>
        </p:txBody>
      </p:sp>
      <p:sp>
        <p:nvSpPr>
          <p:cNvPr id="121" name="Google Shape;121;p1"/>
          <p:cNvSpPr/>
          <p:nvPr/>
        </p:nvSpPr>
        <p:spPr>
          <a:xfrm>
            <a:off x="21909350" y="38241250"/>
            <a:ext cx="14176500" cy="18402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rPr b="1" lang="en-US" sz="3500"/>
              <a:t>6</a:t>
            </a:r>
            <a:r>
              <a:rPr b="1" lang="en-US" sz="3500"/>
              <a:t>. Future Studies</a:t>
            </a:r>
            <a:endParaRPr sz="1800">
              <a:solidFill>
                <a:schemeClr val="dk1"/>
              </a:solidFill>
            </a:endParaRPr>
          </a:p>
          <a:p>
            <a:pPr indent="0" lvl="0" marL="0" marR="0" rtl="0" algn="just">
              <a:lnSpc>
                <a:spcPct val="100000"/>
              </a:lnSpc>
              <a:spcBef>
                <a:spcPts val="0"/>
              </a:spcBef>
              <a:spcAft>
                <a:spcPts val="0"/>
              </a:spcAft>
              <a:buNone/>
            </a:pPr>
            <a:r>
              <a:t/>
            </a:r>
            <a:endParaRPr sz="2500">
              <a:solidFill>
                <a:srgbClr val="000000"/>
              </a:solidFill>
            </a:endParaRPr>
          </a:p>
        </p:txBody>
      </p:sp>
      <p:sp>
        <p:nvSpPr>
          <p:cNvPr id="122" name="Google Shape;122;p1"/>
          <p:cNvSpPr/>
          <p:nvPr/>
        </p:nvSpPr>
        <p:spPr>
          <a:xfrm>
            <a:off x="21945600" y="42448100"/>
            <a:ext cx="14176500" cy="1122900"/>
          </a:xfrm>
          <a:prstGeom prst="rect">
            <a:avLst/>
          </a:prstGeom>
          <a:solidFill>
            <a:srgbClr val="FFFFFF"/>
          </a:solidFill>
          <a:ln cap="flat" cmpd="sng" w="25400">
            <a:solidFill>
              <a:srgbClr val="1B386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500"/>
              <a:t>9</a:t>
            </a:r>
            <a:r>
              <a:rPr b="1" lang="en-US" sz="3500"/>
              <a:t>. Publications</a:t>
            </a:r>
            <a:endParaRPr b="1" sz="3500">
              <a:solidFill>
                <a:srgbClr val="000000"/>
              </a:solidFill>
            </a:endParaRPr>
          </a:p>
          <a:p>
            <a:pPr indent="0" lvl="0" marL="0" rtl="0" algn="l">
              <a:spcBef>
                <a:spcPts val="0"/>
              </a:spcBef>
              <a:spcAft>
                <a:spcPts val="0"/>
              </a:spcAft>
              <a:buClr>
                <a:srgbClr val="000000"/>
              </a:buClr>
              <a:buSzPts val="1100"/>
              <a:buFont typeface="Arial"/>
              <a:buNone/>
            </a:pPr>
            <a:r>
              <a:t/>
            </a:r>
            <a:endParaRPr sz="2500">
              <a:solidFill>
                <a:srgbClr val="000000"/>
              </a:solidFill>
            </a:endParaRPr>
          </a:p>
          <a:p>
            <a:pPr indent="0" lvl="0" marL="0" marR="0" rtl="0" algn="l">
              <a:lnSpc>
                <a:spcPct val="100000"/>
              </a:lnSpc>
              <a:spcBef>
                <a:spcPts val="0"/>
              </a:spcBef>
              <a:spcAft>
                <a:spcPts val="0"/>
              </a:spcAft>
              <a:buNone/>
            </a:pPr>
            <a:r>
              <a:t/>
            </a:r>
            <a:endParaRPr sz="2500">
              <a:solidFill>
                <a:srgbClr val="000000"/>
              </a:solidFill>
            </a:endParaRPr>
          </a:p>
        </p:txBody>
      </p:sp>
      <p:grpSp>
        <p:nvGrpSpPr>
          <p:cNvPr id="123" name="Google Shape;123;p1"/>
          <p:cNvGrpSpPr/>
          <p:nvPr/>
        </p:nvGrpSpPr>
        <p:grpSpPr>
          <a:xfrm>
            <a:off x="22292375" y="9270031"/>
            <a:ext cx="20891598" cy="4024441"/>
            <a:chOff x="22444050" y="8901175"/>
            <a:chExt cx="20891598" cy="4024441"/>
          </a:xfrm>
        </p:grpSpPr>
        <p:pic>
          <p:nvPicPr>
            <p:cNvPr id="124" name="Google Shape;124;p1" title="3m3s cases.png"/>
            <p:cNvPicPr preferRelativeResize="0"/>
            <p:nvPr/>
          </p:nvPicPr>
          <p:blipFill rotWithShape="1">
            <a:blip r:embed="rId12">
              <a:alphaModFix/>
            </a:blip>
            <a:srcRect b="23837" l="0" r="0" t="30922"/>
            <a:stretch/>
          </p:blipFill>
          <p:spPr>
            <a:xfrm>
              <a:off x="22444050" y="8901175"/>
              <a:ext cx="10445798" cy="2658151"/>
            </a:xfrm>
            <a:prstGeom prst="rect">
              <a:avLst/>
            </a:prstGeom>
            <a:solidFill>
              <a:srgbClr val="FFFFFF"/>
            </a:solidFill>
            <a:ln cap="flat" cmpd="sng" w="25400">
              <a:solidFill>
                <a:srgbClr val="FFFFFF"/>
              </a:solidFill>
              <a:prstDash val="solid"/>
              <a:round/>
              <a:headEnd len="sm" w="sm" type="none"/>
              <a:tailEnd len="sm" w="sm" type="none"/>
            </a:ln>
          </p:spPr>
        </p:pic>
        <p:pic>
          <p:nvPicPr>
            <p:cNvPr id="125" name="Google Shape;125;p1" title="3m10s cases.png"/>
            <p:cNvPicPr preferRelativeResize="0"/>
            <p:nvPr/>
          </p:nvPicPr>
          <p:blipFill rotWithShape="1">
            <a:blip r:embed="rId13">
              <a:alphaModFix/>
            </a:blip>
            <a:srcRect b="23036" l="0" r="0" t="30808"/>
            <a:stretch/>
          </p:blipFill>
          <p:spPr>
            <a:xfrm>
              <a:off x="32889850" y="8901175"/>
              <a:ext cx="10445798" cy="2712001"/>
            </a:xfrm>
            <a:prstGeom prst="rect">
              <a:avLst/>
            </a:prstGeom>
            <a:solidFill>
              <a:srgbClr val="FFFFFF"/>
            </a:solidFill>
            <a:ln cap="flat" cmpd="sng" w="25400">
              <a:solidFill>
                <a:srgbClr val="FFFFFF"/>
              </a:solidFill>
              <a:prstDash val="solid"/>
              <a:round/>
              <a:headEnd len="sm" w="sm" type="none"/>
              <a:tailEnd len="sm" w="sm" type="none"/>
            </a:ln>
          </p:spPr>
        </p:pic>
        <p:sp>
          <p:nvSpPr>
            <p:cNvPr id="126" name="Google Shape;126;p1"/>
            <p:cNvSpPr txBox="1"/>
            <p:nvPr/>
          </p:nvSpPr>
          <p:spPr>
            <a:xfrm>
              <a:off x="24440250" y="12356216"/>
              <a:ext cx="179142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US" sz="2500">
                  <a:solidFill>
                    <a:srgbClr val="000000"/>
                  </a:solidFill>
                </a:rPr>
                <a:t>Figure </a:t>
              </a:r>
              <a:r>
                <a:rPr b="1" lang="en-US" sz="2500"/>
                <a:t>4</a:t>
              </a:r>
              <a:r>
                <a:rPr b="1" lang="en-US" sz="2500">
                  <a:solidFill>
                    <a:srgbClr val="000000"/>
                  </a:solidFill>
                </a:rPr>
                <a:t>: Examples of orbits obtained for a </a:t>
              </a:r>
              <a:r>
                <a:rPr b="1" lang="en-US" sz="2500">
                  <a:solidFill>
                    <a:schemeClr val="dk1"/>
                  </a:solidFill>
                </a:rPr>
                <a:t>H</a:t>
              </a:r>
              <a:r>
                <a:rPr b="1" baseline="-25000" lang="en-US" sz="2500">
                  <a:solidFill>
                    <a:schemeClr val="dk1"/>
                  </a:solidFill>
                </a:rPr>
                <a:t>s</a:t>
              </a:r>
              <a:r>
                <a:rPr b="1" lang="en-US" sz="2500">
                  <a:solidFill>
                    <a:srgbClr val="000000"/>
                  </a:solidFill>
                </a:rPr>
                <a:t> of 3m, </a:t>
              </a:r>
              <a:r>
                <a:rPr b="1" lang="en-US" sz="2500">
                  <a:solidFill>
                    <a:schemeClr val="dk1"/>
                  </a:solidFill>
                </a:rPr>
                <a:t>θ</a:t>
              </a:r>
              <a:r>
                <a:rPr b="1" baseline="-25000" lang="en-US" sz="2500">
                  <a:solidFill>
                    <a:schemeClr val="dk1"/>
                  </a:solidFill>
                </a:rPr>
                <a:t>wv</a:t>
              </a:r>
              <a:r>
                <a:rPr b="1" lang="en-US" sz="2500"/>
                <a:t> of 45 degrees and a</a:t>
              </a:r>
              <a:r>
                <a:rPr b="1" lang="en-US" sz="2500">
                  <a:solidFill>
                    <a:srgbClr val="000000"/>
                  </a:solidFill>
                </a:rPr>
                <a:t> </a:t>
              </a:r>
              <a:r>
                <a:rPr b="1" lang="en-US" sz="2500">
                  <a:solidFill>
                    <a:schemeClr val="dk1"/>
                  </a:solidFill>
                </a:rPr>
                <a:t>T</a:t>
              </a:r>
              <a:r>
                <a:rPr b="1" baseline="-25000" lang="en-US" sz="2500">
                  <a:solidFill>
                    <a:schemeClr val="dk1"/>
                  </a:solidFill>
                </a:rPr>
                <a:t>p</a:t>
              </a:r>
              <a:r>
                <a:rPr b="1" lang="en-US" sz="2500">
                  <a:solidFill>
                    <a:srgbClr val="000000"/>
                  </a:solidFill>
                </a:rPr>
                <a:t> of 3s (a,b and c) and 10s (d,e and f).</a:t>
              </a:r>
              <a:endParaRPr b="1" sz="2500">
                <a:solidFill>
                  <a:srgbClr val="000000"/>
                </a:solidFill>
              </a:endParaRPr>
            </a:p>
          </p:txBody>
        </p:sp>
        <p:sp>
          <p:nvSpPr>
            <p:cNvPr id="127" name="Google Shape;127;p1"/>
            <p:cNvSpPr txBox="1"/>
            <p:nvPr/>
          </p:nvSpPr>
          <p:spPr>
            <a:xfrm>
              <a:off x="24283259" y="11754237"/>
              <a:ext cx="645300" cy="569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(a)</a:t>
              </a:r>
              <a:endParaRPr sz="2500">
                <a:solidFill>
                  <a:srgbClr val="000000"/>
                </a:solidFill>
                <a:highlight>
                  <a:srgbClr val="FFFFFF"/>
                </a:highlight>
              </a:endParaRPr>
            </a:p>
          </p:txBody>
        </p:sp>
        <p:sp>
          <p:nvSpPr>
            <p:cNvPr id="128" name="Google Shape;128;p1"/>
            <p:cNvSpPr txBox="1"/>
            <p:nvPr/>
          </p:nvSpPr>
          <p:spPr>
            <a:xfrm>
              <a:off x="27597775" y="11623113"/>
              <a:ext cx="645300" cy="569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(b)</a:t>
              </a:r>
              <a:endParaRPr sz="2500">
                <a:solidFill>
                  <a:srgbClr val="000000"/>
                </a:solidFill>
                <a:highlight>
                  <a:srgbClr val="FFFFFF"/>
                </a:highlight>
              </a:endParaRPr>
            </a:p>
          </p:txBody>
        </p:sp>
        <p:sp>
          <p:nvSpPr>
            <p:cNvPr id="129" name="Google Shape;129;p1"/>
            <p:cNvSpPr txBox="1"/>
            <p:nvPr/>
          </p:nvSpPr>
          <p:spPr>
            <a:xfrm>
              <a:off x="31002582" y="11623131"/>
              <a:ext cx="645300" cy="569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(c)</a:t>
              </a:r>
              <a:endParaRPr sz="2500">
                <a:solidFill>
                  <a:srgbClr val="000000"/>
                </a:solidFill>
                <a:highlight>
                  <a:srgbClr val="FFFFFF"/>
                </a:highlight>
              </a:endParaRPr>
            </a:p>
          </p:txBody>
        </p:sp>
        <p:sp>
          <p:nvSpPr>
            <p:cNvPr id="130" name="Google Shape;130;p1"/>
            <p:cNvSpPr txBox="1"/>
            <p:nvPr/>
          </p:nvSpPr>
          <p:spPr>
            <a:xfrm>
              <a:off x="34719968" y="11650130"/>
              <a:ext cx="645300" cy="515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(d)</a:t>
              </a:r>
              <a:endParaRPr sz="2500">
                <a:solidFill>
                  <a:srgbClr val="000000"/>
                </a:solidFill>
                <a:highlight>
                  <a:srgbClr val="FFFFFF"/>
                </a:highlight>
              </a:endParaRPr>
            </a:p>
          </p:txBody>
        </p:sp>
        <p:sp>
          <p:nvSpPr>
            <p:cNvPr id="131" name="Google Shape;131;p1"/>
            <p:cNvSpPr txBox="1"/>
            <p:nvPr/>
          </p:nvSpPr>
          <p:spPr>
            <a:xfrm>
              <a:off x="38063800" y="11623131"/>
              <a:ext cx="645300" cy="569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(e)</a:t>
              </a:r>
              <a:endParaRPr sz="2500">
                <a:solidFill>
                  <a:srgbClr val="000000"/>
                </a:solidFill>
                <a:highlight>
                  <a:srgbClr val="FFFFFF"/>
                </a:highlight>
              </a:endParaRPr>
            </a:p>
          </p:txBody>
        </p:sp>
        <p:sp>
          <p:nvSpPr>
            <p:cNvPr id="132" name="Google Shape;132;p1"/>
            <p:cNvSpPr txBox="1"/>
            <p:nvPr/>
          </p:nvSpPr>
          <p:spPr>
            <a:xfrm>
              <a:off x="41561457" y="11623133"/>
              <a:ext cx="645300" cy="5694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00"/>
                  </a:solidFill>
                  <a:highlight>
                    <a:srgbClr val="FFFFFF"/>
                  </a:highlight>
                </a:rPr>
                <a:t>(f)</a:t>
              </a:r>
              <a:endParaRPr sz="2500">
                <a:solidFill>
                  <a:srgbClr val="000000"/>
                </a:solidFill>
                <a:highlight>
                  <a:srgbClr val="FFFFFF"/>
                </a:highlight>
              </a:endParaRPr>
            </a:p>
          </p:txBody>
        </p:sp>
      </p:grpSp>
      <p:grpSp>
        <p:nvGrpSpPr>
          <p:cNvPr id="133" name="Google Shape;133;p1"/>
          <p:cNvGrpSpPr/>
          <p:nvPr/>
        </p:nvGrpSpPr>
        <p:grpSpPr>
          <a:xfrm>
            <a:off x="814200" y="23309354"/>
            <a:ext cx="20358400" cy="19661201"/>
            <a:chOff x="762775" y="18713887"/>
            <a:chExt cx="20358400" cy="19077432"/>
          </a:xfrm>
        </p:grpSpPr>
        <p:sp>
          <p:nvSpPr>
            <p:cNvPr id="134" name="Google Shape;134;p1"/>
            <p:cNvSpPr txBox="1"/>
            <p:nvPr/>
          </p:nvSpPr>
          <p:spPr>
            <a:xfrm>
              <a:off x="5730988" y="26241892"/>
              <a:ext cx="11416800" cy="794700"/>
            </a:xfrm>
            <a:prstGeom prst="rect">
              <a:avLst/>
            </a:prstGeom>
            <a:noFill/>
            <a:ln>
              <a:noFill/>
            </a:ln>
          </p:spPr>
          <p:txBody>
            <a:bodyPr anchorCtr="0" anchor="t" bIns="26325" lIns="26325" spcFirstLastPara="1" rIns="26325" wrap="square" tIns="26325">
              <a:noAutofit/>
            </a:bodyPr>
            <a:lstStyle/>
            <a:p>
              <a:pPr indent="0" lvl="0" marL="0" rtl="0" algn="ctr">
                <a:spcBef>
                  <a:spcPts val="0"/>
                </a:spcBef>
                <a:spcAft>
                  <a:spcPts val="0"/>
                </a:spcAft>
                <a:buNone/>
              </a:pPr>
              <a:r>
                <a:rPr b="1" lang="en-US" sz="2400">
                  <a:solidFill>
                    <a:srgbClr val="000000"/>
                  </a:solidFill>
                </a:rPr>
                <a:t>Figure </a:t>
              </a:r>
              <a:r>
                <a:rPr b="1" lang="en-US" sz="2400"/>
                <a:t>2</a:t>
              </a:r>
              <a:r>
                <a:rPr b="1" lang="en-US" sz="2400">
                  <a:solidFill>
                    <a:srgbClr val="000000"/>
                  </a:solidFill>
                </a:rPr>
                <a:t>: Pipeline of latent diffusion model [</a:t>
              </a:r>
              <a:r>
                <a:rPr b="1" lang="en-US" sz="2400"/>
                <a:t>7</a:t>
              </a:r>
              <a:r>
                <a:rPr b="1" lang="en-US" sz="2400">
                  <a:solidFill>
                    <a:srgbClr val="000000"/>
                  </a:solidFill>
                </a:rPr>
                <a:t>] that generates orbital motions influenced by external conditions such as wind and waves</a:t>
              </a:r>
              <a:endParaRPr b="1" sz="2400">
                <a:solidFill>
                  <a:srgbClr val="000000"/>
                </a:solidFill>
              </a:endParaRPr>
            </a:p>
          </p:txBody>
        </p:sp>
        <p:grpSp>
          <p:nvGrpSpPr>
            <p:cNvPr id="135" name="Google Shape;135;p1"/>
            <p:cNvGrpSpPr/>
            <p:nvPr/>
          </p:nvGrpSpPr>
          <p:grpSpPr>
            <a:xfrm>
              <a:off x="867809" y="30757465"/>
              <a:ext cx="20253288" cy="4021808"/>
              <a:chOff x="829846" y="30280665"/>
              <a:chExt cx="20253288" cy="4021808"/>
            </a:xfrm>
          </p:grpSpPr>
          <p:grpSp>
            <p:nvGrpSpPr>
              <p:cNvPr id="136" name="Google Shape;136;p1"/>
              <p:cNvGrpSpPr/>
              <p:nvPr/>
            </p:nvGrpSpPr>
            <p:grpSpPr>
              <a:xfrm>
                <a:off x="829846" y="30280665"/>
                <a:ext cx="20253288" cy="4021808"/>
                <a:chOff x="829846" y="30280665"/>
                <a:chExt cx="20253288" cy="4021808"/>
              </a:xfrm>
            </p:grpSpPr>
            <p:grpSp>
              <p:nvGrpSpPr>
                <p:cNvPr id="137" name="Google Shape;137;p1"/>
                <p:cNvGrpSpPr/>
                <p:nvPr/>
              </p:nvGrpSpPr>
              <p:grpSpPr>
                <a:xfrm>
                  <a:off x="829846" y="30280665"/>
                  <a:ext cx="20252321" cy="3054860"/>
                  <a:chOff x="22429725" y="9919625"/>
                  <a:chExt cx="20906701" cy="3080738"/>
                </a:xfrm>
              </p:grpSpPr>
              <p:sp>
                <p:nvSpPr>
                  <p:cNvPr id="138" name="Google Shape;138;p1"/>
                  <p:cNvSpPr/>
                  <p:nvPr/>
                </p:nvSpPr>
                <p:spPr>
                  <a:xfrm rot="-5400000">
                    <a:off x="33305691" y="10333261"/>
                    <a:ext cx="3039000" cy="2241600"/>
                  </a:xfrm>
                  <a:prstGeom prst="snip2SameRect">
                    <a:avLst>
                      <a:gd fmla="val 36291" name="adj1"/>
                      <a:gd fmla="val 0" name="adj2"/>
                    </a:avLst>
                  </a:prstGeom>
                  <a:solidFill>
                    <a:schemeClr val="dk2"/>
                  </a:solidFill>
                  <a:ln cap="flat" cmpd="sng" w="9225">
                    <a:solidFill>
                      <a:srgbClr val="595959"/>
                    </a:solidFill>
                    <a:prstDash val="solid"/>
                    <a:round/>
                    <a:headEnd len="sm" w="sm" type="none"/>
                    <a:tailEnd len="sm" w="sm" type="none"/>
                  </a:ln>
                </p:spPr>
                <p:txBody>
                  <a:bodyPr anchorCtr="0" anchor="ctr" bIns="88575" lIns="88575" spcFirstLastPara="1" rIns="88575" wrap="square" tIns="88575">
                    <a:noAutofit/>
                  </a:bodyPr>
                  <a:lstStyle/>
                  <a:p>
                    <a:pPr indent="0" lvl="0" marL="0" rtl="0" algn="ctr">
                      <a:spcBef>
                        <a:spcPts val="0"/>
                      </a:spcBef>
                      <a:spcAft>
                        <a:spcPts val="0"/>
                      </a:spcAft>
                      <a:buNone/>
                    </a:pPr>
                    <a:r>
                      <a:t/>
                    </a:r>
                    <a:endParaRPr sz="1356"/>
                  </a:p>
                </p:txBody>
              </p:sp>
              <p:sp>
                <p:nvSpPr>
                  <p:cNvPr id="139" name="Google Shape;139;p1"/>
                  <p:cNvSpPr/>
                  <p:nvPr/>
                </p:nvSpPr>
                <p:spPr>
                  <a:xfrm flipH="1" rot="5400000">
                    <a:off x="29388330" y="10436563"/>
                    <a:ext cx="3066000" cy="2061600"/>
                  </a:xfrm>
                  <a:prstGeom prst="snip2SameRect">
                    <a:avLst>
                      <a:gd fmla="val 36291" name="adj1"/>
                      <a:gd fmla="val 0" name="adj2"/>
                    </a:avLst>
                  </a:prstGeom>
                  <a:solidFill>
                    <a:schemeClr val="dk2"/>
                  </a:solidFill>
                  <a:ln cap="flat" cmpd="sng" w="9225">
                    <a:solidFill>
                      <a:srgbClr val="595959"/>
                    </a:solidFill>
                    <a:prstDash val="solid"/>
                    <a:round/>
                    <a:headEnd len="sm" w="sm" type="none"/>
                    <a:tailEnd len="sm" w="sm" type="none"/>
                  </a:ln>
                </p:spPr>
                <p:txBody>
                  <a:bodyPr anchorCtr="0" anchor="ctr" bIns="88575" lIns="88575" spcFirstLastPara="1" rIns="88575" wrap="square" tIns="88575">
                    <a:noAutofit/>
                  </a:bodyPr>
                  <a:lstStyle/>
                  <a:p>
                    <a:pPr indent="0" lvl="0" marL="0" rtl="0" algn="ctr">
                      <a:spcBef>
                        <a:spcPts val="0"/>
                      </a:spcBef>
                      <a:spcAft>
                        <a:spcPts val="0"/>
                      </a:spcAft>
                      <a:buNone/>
                    </a:pPr>
                    <a:r>
                      <a:t/>
                    </a:r>
                    <a:endParaRPr sz="1356"/>
                  </a:p>
                </p:txBody>
              </p:sp>
              <p:sp>
                <p:nvSpPr>
                  <p:cNvPr id="140" name="Google Shape;140;p1"/>
                  <p:cNvSpPr txBox="1"/>
                  <p:nvPr/>
                </p:nvSpPr>
                <p:spPr>
                  <a:xfrm flipH="1">
                    <a:off x="30503535" y="10906170"/>
                    <a:ext cx="4943100" cy="695400"/>
                  </a:xfrm>
                  <a:prstGeom prst="rect">
                    <a:avLst/>
                  </a:prstGeom>
                  <a:noFill/>
                  <a:ln>
                    <a:noFill/>
                  </a:ln>
                </p:spPr>
                <p:txBody>
                  <a:bodyPr anchorCtr="0" anchor="t" bIns="88575" lIns="88575" spcFirstLastPara="1" rIns="88575" wrap="square" tIns="88575">
                    <a:noAutofit/>
                  </a:bodyPr>
                  <a:lstStyle/>
                  <a:p>
                    <a:pPr indent="0" lvl="0" marL="0" rtl="0" algn="l">
                      <a:spcBef>
                        <a:spcPts val="0"/>
                      </a:spcBef>
                      <a:spcAft>
                        <a:spcPts val="0"/>
                      </a:spcAft>
                      <a:buNone/>
                    </a:pPr>
                    <a:r>
                      <a:rPr b="1" lang="en-US" sz="5036">
                        <a:solidFill>
                          <a:srgbClr val="FFFFFF"/>
                        </a:solidFill>
                      </a:rPr>
                      <a:t>E                   D</a:t>
                    </a:r>
                    <a:endParaRPr b="1" sz="5036">
                      <a:solidFill>
                        <a:srgbClr val="FFFFFF"/>
                      </a:solidFill>
                    </a:endParaRPr>
                  </a:p>
                </p:txBody>
              </p:sp>
              <p:pic>
                <p:nvPicPr>
                  <p:cNvPr id="141" name="Google Shape;141;p1"/>
                  <p:cNvPicPr preferRelativeResize="0"/>
                  <p:nvPr/>
                </p:nvPicPr>
                <p:blipFill>
                  <a:blip r:embed="rId14">
                    <a:alphaModFix/>
                  </a:blip>
                  <a:stretch>
                    <a:fillRect/>
                  </a:stretch>
                </p:blipFill>
                <p:spPr>
                  <a:xfrm>
                    <a:off x="32066155" y="10743729"/>
                    <a:ext cx="1524210" cy="1356169"/>
                  </a:xfrm>
                  <a:prstGeom prst="rect">
                    <a:avLst/>
                  </a:prstGeom>
                  <a:noFill/>
                  <a:ln>
                    <a:noFill/>
                  </a:ln>
                </p:spPr>
              </p:pic>
              <p:cxnSp>
                <p:nvCxnSpPr>
                  <p:cNvPr id="142" name="Google Shape;142;p1"/>
                  <p:cNvCxnSpPr>
                    <a:endCxn id="143" idx="1"/>
                  </p:cNvCxnSpPr>
                  <p:nvPr/>
                </p:nvCxnSpPr>
                <p:spPr>
                  <a:xfrm>
                    <a:off x="39346475" y="11466675"/>
                    <a:ext cx="657900" cy="2700"/>
                  </a:xfrm>
                  <a:prstGeom prst="straightConnector1">
                    <a:avLst/>
                  </a:prstGeom>
                  <a:noFill/>
                  <a:ln cap="flat" cmpd="sng" w="36900">
                    <a:solidFill>
                      <a:srgbClr val="595959"/>
                    </a:solidFill>
                    <a:prstDash val="solid"/>
                    <a:round/>
                    <a:headEnd len="med" w="med" type="none"/>
                    <a:tailEnd len="med" w="med" type="triangle"/>
                  </a:ln>
                </p:spPr>
              </p:cxnSp>
              <p:cxnSp>
                <p:nvCxnSpPr>
                  <p:cNvPr id="144" name="Google Shape;144;p1"/>
                  <p:cNvCxnSpPr>
                    <a:stCxn id="145" idx="3"/>
                    <a:endCxn id="146" idx="1"/>
                  </p:cNvCxnSpPr>
                  <p:nvPr/>
                </p:nvCxnSpPr>
                <p:spPr>
                  <a:xfrm>
                    <a:off x="25898899" y="11448988"/>
                    <a:ext cx="745800" cy="11100"/>
                  </a:xfrm>
                  <a:prstGeom prst="straightConnector1">
                    <a:avLst/>
                  </a:prstGeom>
                  <a:noFill/>
                  <a:ln cap="flat" cmpd="sng" w="36900">
                    <a:solidFill>
                      <a:srgbClr val="595959"/>
                    </a:solidFill>
                    <a:prstDash val="solid"/>
                    <a:round/>
                    <a:headEnd len="med" w="med" type="none"/>
                    <a:tailEnd len="med" w="med" type="triangle"/>
                  </a:ln>
                </p:spPr>
              </p:cxnSp>
              <p:pic>
                <p:nvPicPr>
                  <p:cNvPr id="145" name="Google Shape;145;p1" title="xy_motion.png"/>
                  <p:cNvPicPr preferRelativeResize="0"/>
                  <p:nvPr/>
                </p:nvPicPr>
                <p:blipFill rotWithShape="1">
                  <a:blip r:embed="rId15">
                    <a:alphaModFix/>
                  </a:blip>
                  <a:srcRect b="35025" l="25539" r="40352" t="20275"/>
                  <a:stretch/>
                </p:blipFill>
                <p:spPr>
                  <a:xfrm>
                    <a:off x="22429725" y="9919625"/>
                    <a:ext cx="3469174" cy="3058726"/>
                  </a:xfrm>
                  <a:prstGeom prst="rect">
                    <a:avLst/>
                  </a:prstGeom>
                  <a:noFill/>
                  <a:ln>
                    <a:noFill/>
                  </a:ln>
                </p:spPr>
              </p:pic>
              <p:pic>
                <p:nvPicPr>
                  <p:cNvPr id="143" name="Google Shape;143;p1" title="xy_motion.png"/>
                  <p:cNvPicPr preferRelativeResize="0"/>
                  <p:nvPr/>
                </p:nvPicPr>
                <p:blipFill rotWithShape="1">
                  <a:blip r:embed="rId15">
                    <a:alphaModFix/>
                  </a:blip>
                  <a:srcRect b="35025" l="25539" r="40352" t="20275"/>
                  <a:stretch/>
                </p:blipFill>
                <p:spPr>
                  <a:xfrm>
                    <a:off x="40004375" y="9945525"/>
                    <a:ext cx="3332051" cy="3047701"/>
                  </a:xfrm>
                  <a:prstGeom prst="rect">
                    <a:avLst/>
                  </a:prstGeom>
                  <a:noFill/>
                  <a:ln>
                    <a:noFill/>
                  </a:ln>
                </p:spPr>
              </p:pic>
            </p:grpSp>
            <p:sp>
              <p:nvSpPr>
                <p:cNvPr id="147" name="Google Shape;147;p1"/>
                <p:cNvSpPr txBox="1"/>
                <p:nvPr/>
              </p:nvSpPr>
              <p:spPr>
                <a:xfrm>
                  <a:off x="830434" y="33463673"/>
                  <a:ext cx="20252700" cy="838800"/>
                </a:xfrm>
                <a:prstGeom prst="rect">
                  <a:avLst/>
                </a:prstGeom>
                <a:noFill/>
                <a:ln>
                  <a:noFill/>
                </a:ln>
              </p:spPr>
              <p:txBody>
                <a:bodyPr anchorCtr="0" anchor="t" bIns="213525" lIns="213525" spcFirstLastPara="1" rIns="213525" wrap="square" tIns="213525">
                  <a:noAutofit/>
                </a:bodyPr>
                <a:lstStyle/>
                <a:p>
                  <a:pPr indent="0" lvl="0" marL="0" rtl="0" algn="ctr">
                    <a:spcBef>
                      <a:spcPts val="0"/>
                    </a:spcBef>
                    <a:spcAft>
                      <a:spcPts val="0"/>
                    </a:spcAft>
                    <a:buNone/>
                  </a:pPr>
                  <a:r>
                    <a:rPr b="1" lang="en-US" sz="2400">
                      <a:solidFill>
                        <a:srgbClr val="000000"/>
                      </a:solidFill>
                    </a:rPr>
                    <a:t>Figure </a:t>
                  </a:r>
                  <a:r>
                    <a:rPr b="1" lang="en-US" sz="2400"/>
                    <a:t>3</a:t>
                  </a:r>
                  <a:r>
                    <a:rPr b="1" lang="en-US" sz="2400">
                      <a:solidFill>
                        <a:srgbClr val="000000"/>
                      </a:solidFill>
                    </a:rPr>
                    <a:t>: Autoencoder pipeline with reversible gramian field that compresses nacelle motion to a latent space</a:t>
                  </a:r>
                  <a:endParaRPr b="1" sz="2400">
                    <a:solidFill>
                      <a:srgbClr val="000000"/>
                    </a:solidFill>
                  </a:endParaRPr>
                </a:p>
              </p:txBody>
            </p:sp>
          </p:grpSp>
          <p:pic>
            <p:nvPicPr>
              <p:cNvPr id="146" name="Google Shape;146;p1" title="original.png"/>
              <p:cNvPicPr preferRelativeResize="0"/>
              <p:nvPr/>
            </p:nvPicPr>
            <p:blipFill rotWithShape="1">
              <a:blip r:embed="rId16">
                <a:alphaModFix/>
              </a:blip>
              <a:srcRect b="10955" l="22729" r="21370" t="14417"/>
              <a:stretch/>
            </p:blipFill>
            <p:spPr>
              <a:xfrm>
                <a:off x="4912909" y="30291627"/>
                <a:ext cx="3029101" cy="3032948"/>
              </a:xfrm>
              <a:prstGeom prst="rect">
                <a:avLst/>
              </a:prstGeom>
              <a:noFill/>
              <a:ln>
                <a:noFill/>
              </a:ln>
            </p:spPr>
          </p:pic>
          <p:pic>
            <p:nvPicPr>
              <p:cNvPr id="148" name="Google Shape;148;p1" title="original.png"/>
              <p:cNvPicPr preferRelativeResize="0"/>
              <p:nvPr/>
            </p:nvPicPr>
            <p:blipFill rotWithShape="1">
              <a:blip r:embed="rId16">
                <a:alphaModFix/>
              </a:blip>
              <a:srcRect b="10955" l="22729" r="21370" t="14417"/>
              <a:stretch/>
            </p:blipFill>
            <p:spPr>
              <a:xfrm>
                <a:off x="14080738" y="30291627"/>
                <a:ext cx="3029101" cy="3032948"/>
              </a:xfrm>
              <a:prstGeom prst="rect">
                <a:avLst/>
              </a:prstGeom>
              <a:noFill/>
              <a:ln>
                <a:noFill/>
              </a:ln>
            </p:spPr>
          </p:pic>
        </p:grpSp>
        <p:sp>
          <p:nvSpPr>
            <p:cNvPr id="149" name="Google Shape;149;p1"/>
            <p:cNvSpPr txBox="1"/>
            <p:nvPr/>
          </p:nvSpPr>
          <p:spPr>
            <a:xfrm flipH="1">
              <a:off x="762775" y="18713887"/>
              <a:ext cx="20356200" cy="194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Clr>
                  <a:schemeClr val="dk1"/>
                </a:buClr>
                <a:buSzPts val="1100"/>
                <a:buFont typeface="Arial"/>
                <a:buNone/>
              </a:pPr>
              <a:r>
                <a:rPr lang="en-US" sz="2500">
                  <a:solidFill>
                    <a:schemeClr val="dk1"/>
                  </a:solidFill>
                </a:rPr>
                <a:t>The digital twin is implemented using a </a:t>
              </a:r>
              <a:r>
                <a:rPr b="1" lang="en-US" sz="2500">
                  <a:solidFill>
                    <a:schemeClr val="dk1"/>
                  </a:solidFill>
                </a:rPr>
                <a:t>Latent Diffusion Model (LDM)</a:t>
              </a:r>
              <a:r>
                <a:rPr lang="en-US" sz="2500">
                  <a:solidFill>
                    <a:schemeClr val="dk1"/>
                  </a:solidFill>
                </a:rPr>
                <a:t> (see Fig. 2) trained within a </a:t>
              </a:r>
              <a:r>
                <a:rPr b="1" lang="en-US" sz="2500">
                  <a:solidFill>
                    <a:schemeClr val="dk1"/>
                  </a:solidFill>
                </a:rPr>
                <a:t>compressed latent space</a:t>
              </a:r>
              <a:r>
                <a:rPr lang="en-US" sz="2500">
                  <a:solidFill>
                    <a:schemeClr val="dk1"/>
                  </a:solidFill>
                </a:rPr>
                <a:t> encoded by a physics-informed </a:t>
              </a:r>
              <a:r>
                <a:rPr b="1" lang="en-US" sz="2500">
                  <a:solidFill>
                    <a:schemeClr val="dk1"/>
                  </a:solidFill>
                </a:rPr>
                <a:t>Autoencoder (AE)</a:t>
              </a:r>
              <a:r>
                <a:rPr lang="en-US" sz="2500">
                  <a:solidFill>
                    <a:schemeClr val="dk1"/>
                  </a:solidFill>
                </a:rPr>
                <a:t> (see Fig. 3). Unlike conventional diffusion models that add noise to raw signals, this framework performs diffusion on </a:t>
              </a:r>
              <a:r>
                <a:rPr b="1" lang="en-US" sz="2500">
                  <a:solidFill>
                    <a:schemeClr val="dk1"/>
                  </a:solidFill>
                </a:rPr>
                <a:t>reversible Gramian-encoded images</a:t>
              </a:r>
              <a:r>
                <a:rPr lang="en-US" sz="2500">
                  <a:solidFill>
                    <a:schemeClr val="dk1"/>
                  </a:solidFill>
                </a:rPr>
                <a:t> derived from nacelle motion time series. This allows the network to generate realistic and physically consistent tower-top motion trajectories for offshore wind turbines.</a:t>
              </a:r>
              <a:endParaRPr sz="2500">
                <a:solidFill>
                  <a:schemeClr val="dk1"/>
                </a:solidFill>
              </a:endParaRPr>
            </a:p>
          </p:txBody>
        </p:sp>
        <p:sp>
          <p:nvSpPr>
            <p:cNvPr id="150" name="Google Shape;150;p1"/>
            <p:cNvSpPr txBox="1"/>
            <p:nvPr/>
          </p:nvSpPr>
          <p:spPr>
            <a:xfrm>
              <a:off x="764950" y="27313929"/>
              <a:ext cx="20356200" cy="2181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2500">
                  <a:solidFill>
                    <a:schemeClr val="dk1"/>
                  </a:solidFill>
                </a:rPr>
                <a:t>The AE follows a </a:t>
              </a:r>
              <a:r>
                <a:rPr b="1" lang="en-US" sz="2500">
                  <a:solidFill>
                    <a:schemeClr val="dk1"/>
                  </a:solidFill>
                </a:rPr>
                <a:t>U-Net–based [8] Physics-Informed Neural Network (PINN)</a:t>
              </a:r>
              <a:r>
                <a:rPr lang="en-US" sz="2500">
                  <a:solidFill>
                    <a:schemeClr val="dk1"/>
                  </a:solidFill>
                </a:rPr>
                <a:t> architecture, trained to encode and reconstruct the Gramian Angular Summation Field (</a:t>
              </a:r>
              <a:r>
                <a:rPr b="1" lang="en-US" sz="2500">
                  <a:solidFill>
                    <a:schemeClr val="dk1"/>
                  </a:solidFill>
                </a:rPr>
                <a:t>GASF</a:t>
              </a:r>
              <a:r>
                <a:rPr lang="en-US" sz="2500">
                  <a:solidFill>
                    <a:schemeClr val="dk1"/>
                  </a:solidFill>
                </a:rPr>
                <a:t>) [9] representations of longitudinal and lateral motion. Each motion component is converted into a single GASF channel, where pixel values represent the sine of summed signal angles. The original time series can be exactly recovered by extracting and inverting the image diagonal after normalization to ±π/4 (corresponding to ±0.1 m displacement).</a:t>
              </a:r>
              <a:endParaRPr sz="2500">
                <a:solidFill>
                  <a:schemeClr val="dk1"/>
                </a:solidFill>
              </a:endParaRPr>
            </a:p>
            <a:p>
              <a:pPr indent="0" lvl="0" marL="0" rtl="0" algn="l">
                <a:lnSpc>
                  <a:spcPct val="115000"/>
                </a:lnSpc>
                <a:spcBef>
                  <a:spcPts val="1200"/>
                </a:spcBef>
                <a:spcAft>
                  <a:spcPts val="1200"/>
                </a:spcAft>
                <a:buNone/>
              </a:pPr>
              <a:r>
                <a:t/>
              </a:r>
              <a:endParaRPr sz="2500">
                <a:solidFill>
                  <a:schemeClr val="dk1"/>
                </a:solidFill>
              </a:endParaRPr>
            </a:p>
          </p:txBody>
        </p:sp>
        <p:sp>
          <p:nvSpPr>
            <p:cNvPr id="151" name="Google Shape;151;p1"/>
            <p:cNvSpPr txBox="1"/>
            <p:nvPr/>
          </p:nvSpPr>
          <p:spPr>
            <a:xfrm>
              <a:off x="764975" y="35610019"/>
              <a:ext cx="20356200" cy="2181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sz="2500">
                  <a:solidFill>
                    <a:schemeClr val="dk1"/>
                  </a:solidFill>
                </a:rPr>
                <a:t>Training of the AE minimizes a </a:t>
              </a:r>
              <a:r>
                <a:rPr b="1" lang="en-US" sz="2500">
                  <a:solidFill>
                    <a:schemeClr val="dk1"/>
                  </a:solidFill>
                </a:rPr>
                <a:t>weighted sum of seven loss terms</a:t>
              </a:r>
              <a:r>
                <a:rPr lang="en-US" sz="2500">
                  <a:solidFill>
                    <a:schemeClr val="dk1"/>
                  </a:solidFill>
                </a:rPr>
                <a:t>: image and time-series MSE, spectral (FFT) loss, latent-space regularization, adversarial consistency, symmetry and endpoint constraints, and a physics loss enforcing the </a:t>
              </a:r>
              <a:r>
                <a:rPr b="1" lang="en-US" sz="2500">
                  <a:solidFill>
                    <a:schemeClr val="dk1"/>
                  </a:solidFill>
                </a:rPr>
                <a:t>SINDy-derived governing equation</a:t>
              </a:r>
              <a:r>
                <a:rPr lang="en-US" sz="2500">
                  <a:solidFill>
                    <a:schemeClr val="dk1"/>
                  </a:solidFill>
                </a:rPr>
                <a:t>. The trained AE provides the reversible latent representation required for the LDM, which is subsequently trained to model the temporal evolution of the encoded nacelle motion distributions.</a:t>
              </a:r>
              <a:endParaRPr sz="2500">
                <a:solidFill>
                  <a:schemeClr val="dk1"/>
                </a:solidFill>
              </a:endParaRPr>
            </a:p>
            <a:p>
              <a:pPr indent="0" lvl="0" marL="0" rtl="0" algn="l">
                <a:lnSpc>
                  <a:spcPct val="115000"/>
                </a:lnSpc>
                <a:spcBef>
                  <a:spcPts val="1200"/>
                </a:spcBef>
                <a:spcAft>
                  <a:spcPts val="0"/>
                </a:spcAft>
                <a:buNone/>
              </a:pPr>
              <a:r>
                <a:t/>
              </a:r>
              <a:endParaRPr sz="2500">
                <a:solidFill>
                  <a:schemeClr val="dk1"/>
                </a:solidFill>
              </a:endParaRPr>
            </a:p>
            <a:p>
              <a:pPr indent="0" lvl="0" marL="0" rtl="0" algn="l">
                <a:lnSpc>
                  <a:spcPct val="115000"/>
                </a:lnSpc>
                <a:spcBef>
                  <a:spcPts val="1200"/>
                </a:spcBef>
                <a:spcAft>
                  <a:spcPts val="1200"/>
                </a:spcAft>
                <a:buNone/>
              </a:pPr>
              <a:r>
                <a:t/>
              </a:r>
              <a:endParaRPr sz="2500">
                <a:solidFill>
                  <a:schemeClr val="dk1"/>
                </a:solidFill>
              </a:endParaRPr>
            </a:p>
          </p:txBody>
        </p:sp>
      </p:grpSp>
      <p:sp>
        <p:nvSpPr>
          <p:cNvPr id="152" name="Google Shape;152;p1"/>
          <p:cNvSpPr txBox="1"/>
          <p:nvPr/>
        </p:nvSpPr>
        <p:spPr>
          <a:xfrm>
            <a:off x="22414150" y="38739250"/>
            <a:ext cx="13432500" cy="132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solidFill>
                  <a:schemeClr val="dk1"/>
                </a:solidFill>
              </a:rPr>
              <a:t>The next stage of development involves training and refining the full Latent Diffusion Model (LDM) to generate accurate nacelle motion predictions. This phase requires multiple rounds of tuning and optimization and is currently in progress.</a:t>
            </a:r>
            <a:endParaRPr sz="2500">
              <a:solidFill>
                <a:schemeClr val="dk1"/>
              </a:solidFill>
            </a:endParaRPr>
          </a:p>
        </p:txBody>
      </p:sp>
      <p:sp>
        <p:nvSpPr>
          <p:cNvPr id="153" name="Google Shape;153;p1"/>
          <p:cNvSpPr txBox="1"/>
          <p:nvPr/>
        </p:nvSpPr>
        <p:spPr>
          <a:xfrm>
            <a:off x="22077788" y="34637975"/>
            <a:ext cx="13839600" cy="3153300"/>
          </a:xfrm>
          <a:prstGeom prst="rect">
            <a:avLst/>
          </a:prstGeom>
          <a:noFill/>
          <a:ln>
            <a:noFill/>
          </a:ln>
        </p:spPr>
        <p:txBody>
          <a:bodyPr anchorCtr="0" anchor="t" bIns="91425" lIns="91425" spcFirstLastPara="1" rIns="91425" wrap="square" tIns="91425">
            <a:noAutofit/>
          </a:bodyPr>
          <a:lstStyle/>
          <a:p>
            <a:pPr indent="-387350" lvl="0" marL="457200" rtl="0" algn="just">
              <a:spcBef>
                <a:spcPts val="0"/>
              </a:spcBef>
              <a:spcAft>
                <a:spcPts val="0"/>
              </a:spcAft>
              <a:buClr>
                <a:schemeClr val="dk1"/>
              </a:buClr>
              <a:buSzPts val="2500"/>
              <a:buChar char="●"/>
            </a:pPr>
            <a:r>
              <a:rPr lang="en-US" sz="2500">
                <a:solidFill>
                  <a:schemeClr val="dk1"/>
                </a:solidFill>
              </a:rPr>
              <a:t>The framework integrates physics-informed learning with a latent diffusion model to enable real-time prediction of offshore wind turbine nacelle motion.</a:t>
            </a:r>
            <a:endParaRPr sz="2500">
              <a:solidFill>
                <a:schemeClr val="dk1"/>
              </a:solidFill>
            </a:endParaRPr>
          </a:p>
          <a:p>
            <a:pPr indent="-387350" lvl="0" marL="457200" rtl="0" algn="just">
              <a:spcBef>
                <a:spcPts val="0"/>
              </a:spcBef>
              <a:spcAft>
                <a:spcPts val="0"/>
              </a:spcAft>
              <a:buClr>
                <a:schemeClr val="dk1"/>
              </a:buClr>
              <a:buSzPts val="2500"/>
              <a:buChar char="●"/>
            </a:pPr>
            <a:r>
              <a:rPr lang="en-US" sz="2500">
                <a:solidFill>
                  <a:schemeClr val="dk1"/>
                </a:solidFill>
              </a:rPr>
              <a:t>A combination of GASF encoding, a PINN-based autoencoder, and a latent diffusion model ensures reversible data transformation and physical interpretability.</a:t>
            </a:r>
            <a:endParaRPr sz="2500">
              <a:solidFill>
                <a:schemeClr val="dk1"/>
              </a:solidFill>
            </a:endParaRPr>
          </a:p>
          <a:p>
            <a:pPr indent="-387350" lvl="0" marL="457200" rtl="0" algn="just">
              <a:spcBef>
                <a:spcPts val="0"/>
              </a:spcBef>
              <a:spcAft>
                <a:spcPts val="0"/>
              </a:spcAft>
              <a:buClr>
                <a:schemeClr val="dk1"/>
              </a:buClr>
              <a:buSzPts val="2500"/>
              <a:buChar char="●"/>
            </a:pPr>
            <a:r>
              <a:rPr lang="en-US" sz="2500">
                <a:solidFill>
                  <a:schemeClr val="dk1"/>
                </a:solidFill>
              </a:rPr>
              <a:t>The inclusion of the SINDy-derived physics loss enforces agreement between generated motion trajectories and governing system dynamics.</a:t>
            </a:r>
            <a:endParaRPr sz="2500">
              <a:solidFill>
                <a:schemeClr val="dk1"/>
              </a:solidFill>
            </a:endParaRPr>
          </a:p>
          <a:p>
            <a:pPr indent="-387350" lvl="0" marL="457200" rtl="0" algn="just">
              <a:spcBef>
                <a:spcPts val="0"/>
              </a:spcBef>
              <a:spcAft>
                <a:spcPts val="0"/>
              </a:spcAft>
              <a:buClr>
                <a:schemeClr val="dk1"/>
              </a:buClr>
              <a:buSzPts val="2500"/>
              <a:buChar char="●"/>
            </a:pPr>
            <a:r>
              <a:rPr lang="en-US" sz="2500">
                <a:solidFill>
                  <a:schemeClr val="dk1"/>
                </a:solidFill>
              </a:rPr>
              <a:t>The resulting model demonstrates a scalable foundation for developing physically consistent digital twins for complex, dynamic engineering systems.</a:t>
            </a:r>
            <a:endParaRPr sz="2500">
              <a:solidFill>
                <a:schemeClr val="dk1"/>
              </a:solidFill>
            </a:endParaRPr>
          </a:p>
          <a:p>
            <a:pPr indent="0" lvl="0" marL="0" rtl="0" algn="just">
              <a:spcBef>
                <a:spcPts val="0"/>
              </a:spcBef>
              <a:spcAft>
                <a:spcPts val="0"/>
              </a:spcAft>
              <a:buNone/>
            </a:pPr>
            <a:r>
              <a:t/>
            </a:r>
            <a:endParaRPr sz="2500">
              <a:solidFill>
                <a:schemeClr val="dk1"/>
              </a:solidFill>
            </a:endParaRPr>
          </a:p>
        </p:txBody>
      </p:sp>
      <p:sp>
        <p:nvSpPr>
          <p:cNvPr id="154" name="Google Shape;154;p1"/>
          <p:cNvSpPr txBox="1"/>
          <p:nvPr/>
        </p:nvSpPr>
        <p:spPr>
          <a:xfrm>
            <a:off x="22378750" y="40767675"/>
            <a:ext cx="13503300" cy="13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500">
                <a:solidFill>
                  <a:schemeClr val="dk1"/>
                </a:solidFill>
              </a:rPr>
              <a:t>This research was funded by the U.S. National Science Foundation (NSF), Award No. 2343210 (CBET—Division of Chemical, Bioengineering, Environmental, and Transport Systems; Program Manager: Carole Read).</a:t>
            </a:r>
            <a:endParaRPr sz="2500">
              <a:solidFill>
                <a:schemeClr val="dk1"/>
              </a:solidFill>
            </a:endParaRPr>
          </a:p>
        </p:txBody>
      </p:sp>
      <p:sp>
        <p:nvSpPr>
          <p:cNvPr id="155" name="Google Shape;155;p1"/>
          <p:cNvSpPr txBox="1"/>
          <p:nvPr/>
        </p:nvSpPr>
        <p:spPr>
          <a:xfrm>
            <a:off x="22444050" y="42964650"/>
            <a:ext cx="10776900" cy="5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500">
                <a:solidFill>
                  <a:schemeClr val="dk1"/>
                </a:solidFill>
              </a:rPr>
              <a:t>There are no publications on this research yet, as it is still in progress.</a:t>
            </a:r>
            <a:endParaRPr sz="2500">
              <a:solidFill>
                <a:schemeClr val="dk1"/>
              </a:solidFill>
            </a:endParaRPr>
          </a:p>
        </p:txBody>
      </p:sp>
      <p:sp>
        <p:nvSpPr>
          <p:cNvPr id="156" name="Google Shape;156;p1"/>
          <p:cNvSpPr txBox="1"/>
          <p:nvPr/>
        </p:nvSpPr>
        <p:spPr>
          <a:xfrm>
            <a:off x="816375" y="13829400"/>
            <a:ext cx="20222400" cy="315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solidFill>
                  <a:schemeClr val="dk1"/>
                </a:solidFill>
              </a:rPr>
              <a:t>High-fidelity motion data for the offshore wind turbine system are generated using OrcaFlex [4], which serves as the physics-based foundation for model development. The hammerhead configuration of the </a:t>
            </a:r>
            <a:r>
              <a:rPr lang="en-US" sz="2500">
                <a:solidFill>
                  <a:schemeClr val="dk1"/>
                </a:solidFill>
                <a:extLst>
                  <a:ext uri="http://customooxmlschemas.google.com/">
                    <go:slidesCustomData xmlns:go="http://customooxmlschemas.google.com/" textRoundtripDataId="9"/>
                  </a:ext>
                </a:extLst>
              </a:rPr>
              <a:t>International Energy Agency</a:t>
            </a:r>
            <a:r>
              <a:rPr lang="en-US" sz="2500">
                <a:solidFill>
                  <a:schemeClr val="dk1"/>
                </a:solidFill>
              </a:rPr>
              <a:t> (IEA) 10 MW [5] turbine is modeled in OrcaFlex and the time-series responses of the nacelle motion in the fore-aft (FA) and side-side (SS) directions are extracted under a variety of irregular wave load cases and random seeds. To introduce physics-based guidance, sparse identification of non-linear dynamical systems (SINDy) [6] is employed to identify a parsimonious set of governing terms and derive a compact ordinary-differential equation that captures the dominant fore–aft/side–side coupling. This ODE is embedded in the training loop as an additional loss term, penalizing deviations between the learned latent dynamics and the physically consistent SINDy-derived equation. For a single load case—defined by fixed sea-state parameters —the tower-top dynamics are represented by a linear, second-order form with constant coefficients as shown in Eq.1 and Eq.2.</a:t>
            </a:r>
            <a:endParaRPr sz="2500">
              <a:solidFill>
                <a:schemeClr val="dk1"/>
              </a:solidFill>
            </a:endParaRPr>
          </a:p>
        </p:txBody>
      </p:sp>
      <p:sp>
        <p:nvSpPr>
          <p:cNvPr id="157" name="Google Shape;157;p1"/>
          <p:cNvSpPr txBox="1"/>
          <p:nvPr/>
        </p:nvSpPr>
        <p:spPr>
          <a:xfrm>
            <a:off x="816375" y="18011400"/>
            <a:ext cx="20222400" cy="2327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n-US" sz="2500">
                <a:solidFill>
                  <a:schemeClr val="dk1"/>
                </a:solidFill>
              </a:rPr>
              <a:t>On the right-hand side, the external excitation is simplified from the “real” hydrodynamic force to a proportional term i.e., a scalar gain multiplying the measured free-surface elevation. This replaces detailed Morison-type or radiation–diffraction force models with an </a:t>
            </a:r>
            <a:r>
              <a:rPr b="1" lang="en-US" sz="2500">
                <a:solidFill>
                  <a:schemeClr val="dk1"/>
                </a:solidFill>
              </a:rPr>
              <a:t>effective input</a:t>
            </a:r>
            <a:r>
              <a:rPr lang="en-US" sz="2500">
                <a:solidFill>
                  <a:schemeClr val="dk1"/>
                </a:solidFill>
              </a:rPr>
              <a:t> that is (i) directly observable, (ii) low dimensional, and (iii) sufficiently correlated with tower-top response within the sea-state ranges of interest.  Directionality is enforced by projecting the wave elevation onto the global axes. To accommodate multiple load cases spanning a range of sea states, this structure is generalized by replacing the constant coefficients with smooth, sea-state–parametric functions as shown in Eq.3</a:t>
            </a:r>
            <a:endParaRPr sz="2500">
              <a:solidFill>
                <a:schemeClr val="dk1"/>
              </a:solidFill>
            </a:endParaRPr>
          </a:p>
        </p:txBody>
      </p:sp>
      <p:sp>
        <p:nvSpPr>
          <p:cNvPr id="158" name="Google Shape;158;p1"/>
          <p:cNvSpPr txBox="1"/>
          <p:nvPr/>
        </p:nvSpPr>
        <p:spPr>
          <a:xfrm>
            <a:off x="814238" y="21239650"/>
            <a:ext cx="20358300" cy="1897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2500">
                <a:solidFill>
                  <a:schemeClr val="dk1"/>
                </a:solidFill>
              </a:rPr>
              <a:t>Coefficients are first estimated for each sea state by fitting the single-case model and aggregating across seeds. They are then linearly regressed against the sea-state parameters—significant wave height (</a:t>
            </a:r>
            <a:r>
              <a:rPr lang="en-US" sz="2500">
                <a:solidFill>
                  <a:schemeClr val="dk1"/>
                </a:solidFill>
              </a:rPr>
              <a:t>H</a:t>
            </a:r>
            <a:r>
              <a:rPr baseline="-25000" lang="en-US" sz="2500">
                <a:solidFill>
                  <a:schemeClr val="dk1"/>
                </a:solidFill>
              </a:rPr>
              <a:t>s</a:t>
            </a:r>
            <a:r>
              <a:rPr lang="en-US" sz="2500">
                <a:solidFill>
                  <a:schemeClr val="dk1"/>
                </a:solidFill>
              </a:rPr>
              <a:t>), peak period (</a:t>
            </a:r>
            <a:r>
              <a:rPr lang="en-US" sz="2500">
                <a:solidFill>
                  <a:schemeClr val="dk1"/>
                </a:solidFill>
              </a:rPr>
              <a:t>T</a:t>
            </a:r>
            <a:r>
              <a:rPr baseline="-25000" lang="en-US" sz="2500">
                <a:solidFill>
                  <a:schemeClr val="dk1"/>
                </a:solidFill>
              </a:rPr>
              <a:t>p</a:t>
            </a:r>
            <a:r>
              <a:rPr lang="en-US" sz="2500">
                <a:solidFill>
                  <a:schemeClr val="dk1"/>
                </a:solidFill>
              </a:rPr>
              <a:t>), and wave direction</a:t>
            </a:r>
            <a:r>
              <a:rPr lang="en-US" sz="2500">
                <a:solidFill>
                  <a:schemeClr val="dk1"/>
                </a:solidFill>
              </a:rPr>
              <a:t> (θ</a:t>
            </a:r>
            <a:r>
              <a:rPr baseline="-25000" lang="en-US" sz="2500">
                <a:solidFill>
                  <a:schemeClr val="dk1"/>
                </a:solidFill>
              </a:rPr>
              <a:t>wv</a:t>
            </a:r>
            <a:r>
              <a:rPr lang="en-US" sz="2500">
                <a:solidFill>
                  <a:schemeClr val="dk1"/>
                </a:solidFill>
              </a:rPr>
              <a:t>)</a:t>
            </a:r>
            <a:r>
              <a:rPr lang="en-US" sz="2500">
                <a:solidFill>
                  <a:schemeClr val="dk1"/>
                </a:solidFill>
              </a:rPr>
              <a:t>—so that each coefficient becomes an explicit function of these variables. Adopting a linear-only dependence preserves interpretability, avoids unnecessary higher-order or coupling terms, and yields smoothly varying coefficients suitable for robust simulation and physics-informed learning. </a:t>
            </a:r>
            <a:endParaRPr sz="2500">
              <a:solidFill>
                <a:schemeClr val="dk1"/>
              </a:solidFill>
            </a:endParaRPr>
          </a:p>
        </p:txBody>
      </p:sp>
      <p:pic>
        <p:nvPicPr>
          <p:cNvPr id="159" name="Google Shape;159;p1"/>
          <p:cNvPicPr preferRelativeResize="0"/>
          <p:nvPr/>
        </p:nvPicPr>
        <p:blipFill>
          <a:blip r:embed="rId17">
            <a:alphaModFix/>
          </a:blip>
          <a:stretch>
            <a:fillRect/>
          </a:stretch>
        </p:blipFill>
        <p:spPr>
          <a:xfrm>
            <a:off x="3905625" y="17192250"/>
            <a:ext cx="14220825" cy="819150"/>
          </a:xfrm>
          <a:prstGeom prst="rect">
            <a:avLst/>
          </a:prstGeom>
          <a:noFill/>
          <a:ln>
            <a:noFill/>
          </a:ln>
        </p:spPr>
      </p:pic>
      <p:sp>
        <p:nvSpPr>
          <p:cNvPr id="160" name="Google Shape;160;p1"/>
          <p:cNvSpPr txBox="1"/>
          <p:nvPr/>
        </p:nvSpPr>
        <p:spPr>
          <a:xfrm>
            <a:off x="36207950" y="28886214"/>
            <a:ext cx="5929200" cy="965100"/>
          </a:xfrm>
          <a:prstGeom prst="rect">
            <a:avLst/>
          </a:prstGeom>
          <a:noFill/>
          <a:ln>
            <a:noFill/>
          </a:ln>
        </p:spPr>
        <p:txBody>
          <a:bodyPr anchorCtr="0" anchor="t" bIns="26325" lIns="26325" spcFirstLastPara="1" rIns="26325" wrap="square" tIns="26325">
            <a:noAutofit/>
          </a:bodyPr>
          <a:lstStyle/>
          <a:p>
            <a:pPr indent="0" lvl="0" marL="0" rtl="0" algn="ctr">
              <a:spcBef>
                <a:spcPts val="0"/>
              </a:spcBef>
              <a:spcAft>
                <a:spcPts val="0"/>
              </a:spcAft>
              <a:buNone/>
            </a:pPr>
            <a:r>
              <a:rPr b="1" lang="en-US" sz="2400"/>
              <a:t>Table 1</a:t>
            </a:r>
            <a:r>
              <a:rPr b="1" lang="en-US" sz="2400">
                <a:solidFill>
                  <a:srgbClr val="000000"/>
                </a:solidFill>
              </a:rPr>
              <a:t>: </a:t>
            </a:r>
            <a:r>
              <a:rPr b="1" lang="en-US" sz="2400"/>
              <a:t>Mean Absolute Error with and without PINN</a:t>
            </a:r>
            <a:endParaRPr b="1" sz="2400">
              <a:solidFill>
                <a:srgbClr val="000000"/>
              </a:solidFill>
            </a:endParaRPr>
          </a:p>
        </p:txBody>
      </p:sp>
      <p:pic>
        <p:nvPicPr>
          <p:cNvPr id="161" name="Google Shape;161;p1"/>
          <p:cNvPicPr preferRelativeResize="0"/>
          <p:nvPr/>
        </p:nvPicPr>
        <p:blipFill>
          <a:blip r:embed="rId18">
            <a:alphaModFix/>
          </a:blip>
          <a:stretch>
            <a:fillRect/>
          </a:stretch>
        </p:blipFill>
        <p:spPr>
          <a:xfrm>
            <a:off x="22826602" y="23828736"/>
            <a:ext cx="11231994" cy="4453669"/>
          </a:xfrm>
          <a:prstGeom prst="rect">
            <a:avLst/>
          </a:prstGeom>
          <a:noFill/>
          <a:ln>
            <a:noFill/>
          </a:ln>
        </p:spPr>
      </p:pic>
      <p:sp>
        <p:nvSpPr>
          <p:cNvPr id="162" name="Google Shape;162;p1"/>
          <p:cNvSpPr txBox="1"/>
          <p:nvPr/>
        </p:nvSpPr>
        <p:spPr>
          <a:xfrm>
            <a:off x="25650844" y="23818318"/>
            <a:ext cx="6518400" cy="3693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solidFill>
                <a:schemeClr val="dk1"/>
              </a:solidFill>
              <a:latin typeface="Calibri"/>
              <a:ea typeface="Calibri"/>
              <a:cs typeface="Calibri"/>
              <a:sym typeface="Calibri"/>
            </a:endParaRPr>
          </a:p>
        </p:txBody>
      </p:sp>
      <p:grpSp>
        <p:nvGrpSpPr>
          <p:cNvPr id="163" name="Google Shape;163;p1"/>
          <p:cNvGrpSpPr/>
          <p:nvPr/>
        </p:nvGrpSpPr>
        <p:grpSpPr>
          <a:xfrm>
            <a:off x="22898373" y="19372631"/>
            <a:ext cx="11134174" cy="13799794"/>
            <a:chOff x="22898373" y="19372631"/>
            <a:chExt cx="11134174" cy="13799794"/>
          </a:xfrm>
        </p:grpSpPr>
        <p:sp>
          <p:nvSpPr>
            <p:cNvPr id="164" name="Google Shape;164;p1"/>
            <p:cNvSpPr txBox="1"/>
            <p:nvPr/>
          </p:nvSpPr>
          <p:spPr>
            <a:xfrm>
              <a:off x="23857475" y="32641125"/>
              <a:ext cx="9786600" cy="531300"/>
            </a:xfrm>
            <a:prstGeom prst="rect">
              <a:avLst/>
            </a:prstGeom>
            <a:noFill/>
            <a:ln>
              <a:noFill/>
            </a:ln>
          </p:spPr>
          <p:txBody>
            <a:bodyPr anchorCtr="0" anchor="t" bIns="26325" lIns="26325" spcFirstLastPara="1" rIns="26325" wrap="square" tIns="26325">
              <a:noAutofit/>
            </a:bodyPr>
            <a:lstStyle/>
            <a:p>
              <a:pPr indent="0" lvl="0" marL="0" rtl="0" algn="ctr">
                <a:spcBef>
                  <a:spcPts val="0"/>
                </a:spcBef>
                <a:spcAft>
                  <a:spcPts val="0"/>
                </a:spcAft>
                <a:buNone/>
              </a:pPr>
              <a:r>
                <a:rPr b="1" lang="en-US" sz="2400">
                  <a:solidFill>
                    <a:srgbClr val="000000"/>
                  </a:solidFill>
                </a:rPr>
                <a:t>Figure </a:t>
              </a:r>
              <a:r>
                <a:rPr b="1" lang="en-US" sz="2400"/>
                <a:t>5</a:t>
              </a:r>
              <a:r>
                <a:rPr b="1" lang="en-US" sz="2400">
                  <a:solidFill>
                    <a:srgbClr val="000000"/>
                  </a:solidFill>
                </a:rPr>
                <a:t>: </a:t>
              </a:r>
              <a:r>
                <a:rPr b="1" lang="en-US" sz="2400"/>
                <a:t>Comparison between reconstruction and original motion in both time and frequency domain</a:t>
              </a:r>
              <a:endParaRPr b="1" sz="2400">
                <a:solidFill>
                  <a:srgbClr val="000000"/>
                </a:solidFill>
              </a:endParaRPr>
            </a:p>
          </p:txBody>
        </p:sp>
        <p:pic>
          <p:nvPicPr>
            <p:cNvPr id="165" name="Google Shape;165;p1" title="fft_comparison.png"/>
            <p:cNvPicPr preferRelativeResize="0"/>
            <p:nvPr/>
          </p:nvPicPr>
          <p:blipFill rotWithShape="1">
            <a:blip r:embed="rId19">
              <a:alphaModFix/>
            </a:blip>
            <a:srcRect b="2699" l="0" r="0" t="-2700"/>
            <a:stretch/>
          </p:blipFill>
          <p:spPr>
            <a:xfrm>
              <a:off x="24171572" y="28202813"/>
              <a:ext cx="8910950" cy="4279775"/>
            </a:xfrm>
            <a:prstGeom prst="rect">
              <a:avLst/>
            </a:prstGeom>
            <a:noFill/>
            <a:ln>
              <a:noFill/>
            </a:ln>
          </p:spPr>
        </p:pic>
        <p:pic>
          <p:nvPicPr>
            <p:cNvPr id="166" name="Google Shape;166;p1" title="y_series_40_223.png"/>
            <p:cNvPicPr preferRelativeResize="0"/>
            <p:nvPr/>
          </p:nvPicPr>
          <p:blipFill>
            <a:blip r:embed="rId20">
              <a:alphaModFix/>
            </a:blip>
            <a:stretch>
              <a:fillRect/>
            </a:stretch>
          </p:blipFill>
          <p:spPr>
            <a:xfrm>
              <a:off x="22898373" y="19507754"/>
              <a:ext cx="11134174" cy="4453670"/>
            </a:xfrm>
            <a:prstGeom prst="rect">
              <a:avLst/>
            </a:prstGeom>
            <a:noFill/>
            <a:ln>
              <a:noFill/>
            </a:ln>
          </p:spPr>
        </p:pic>
        <p:sp>
          <p:nvSpPr>
            <p:cNvPr id="167" name="Google Shape;167;p1"/>
            <p:cNvSpPr txBox="1"/>
            <p:nvPr/>
          </p:nvSpPr>
          <p:spPr>
            <a:xfrm>
              <a:off x="25627625" y="19372631"/>
              <a:ext cx="6518400" cy="515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Calibri"/>
                  <a:ea typeface="Calibri"/>
                  <a:cs typeface="Calibri"/>
                  <a:sym typeface="Calibri"/>
                </a:rPr>
                <a:t>Time Series Comparison</a:t>
              </a:r>
              <a:endParaRPr b="1" sz="2400">
                <a:solidFill>
                  <a:schemeClr val="dk1"/>
                </a:solidFill>
                <a:latin typeface="Calibri"/>
                <a:ea typeface="Calibri"/>
                <a:cs typeface="Calibri"/>
                <a:sym typeface="Calibri"/>
              </a:endParaRPr>
            </a:p>
          </p:txBody>
        </p:sp>
        <p:sp>
          <p:nvSpPr>
            <p:cNvPr id="168" name="Google Shape;168;p1"/>
            <p:cNvSpPr txBox="1"/>
            <p:nvPr/>
          </p:nvSpPr>
          <p:spPr>
            <a:xfrm>
              <a:off x="25797250" y="28185944"/>
              <a:ext cx="6246300" cy="515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Calibri"/>
                  <a:ea typeface="Calibri"/>
                  <a:cs typeface="Calibri"/>
                  <a:sym typeface="Calibri"/>
                </a:rPr>
                <a:t>Frequency Domain Comparison</a:t>
              </a:r>
              <a:endParaRPr b="1" sz="2400">
                <a:solidFill>
                  <a:schemeClr val="dk1"/>
                </a:solidFill>
                <a:latin typeface="Calibri"/>
                <a:ea typeface="Calibri"/>
                <a:cs typeface="Calibri"/>
                <a:sym typeface="Calibri"/>
              </a:endParaRPr>
            </a:p>
          </p:txBody>
        </p:sp>
      </p:grpSp>
      <p:pic>
        <p:nvPicPr>
          <p:cNvPr id="169" name="Google Shape;169;p1"/>
          <p:cNvPicPr preferRelativeResize="0"/>
          <p:nvPr/>
        </p:nvPicPr>
        <p:blipFill rotWithShape="1">
          <a:blip r:embed="rId21">
            <a:alphaModFix/>
          </a:blip>
          <a:srcRect b="17425" l="10657" r="7489" t="11682"/>
          <a:stretch/>
        </p:blipFill>
        <p:spPr>
          <a:xfrm>
            <a:off x="5619280" y="25268919"/>
            <a:ext cx="10748227" cy="5512974"/>
          </a:xfrm>
          <a:prstGeom prst="rect">
            <a:avLst/>
          </a:prstGeom>
          <a:noFill/>
          <a:ln>
            <a:noFill/>
          </a:ln>
        </p:spPr>
      </p:pic>
      <p:grpSp>
        <p:nvGrpSpPr>
          <p:cNvPr id="170" name="Google Shape;170;p1"/>
          <p:cNvGrpSpPr/>
          <p:nvPr/>
        </p:nvGrpSpPr>
        <p:grpSpPr>
          <a:xfrm>
            <a:off x="35319944" y="19266456"/>
            <a:ext cx="7786500" cy="9212267"/>
            <a:chOff x="35319944" y="19266456"/>
            <a:chExt cx="7786500" cy="9212267"/>
          </a:xfrm>
        </p:grpSpPr>
        <p:pic>
          <p:nvPicPr>
            <p:cNvPr id="171" name="Google Shape;171;p1" title="disc_guesses.png"/>
            <p:cNvPicPr preferRelativeResize="0"/>
            <p:nvPr/>
          </p:nvPicPr>
          <p:blipFill>
            <a:blip r:embed="rId22">
              <a:alphaModFix/>
            </a:blip>
            <a:stretch>
              <a:fillRect/>
            </a:stretch>
          </p:blipFill>
          <p:spPr>
            <a:xfrm>
              <a:off x="36429219" y="19527930"/>
              <a:ext cx="5200176" cy="4158301"/>
            </a:xfrm>
            <a:prstGeom prst="rect">
              <a:avLst/>
            </a:prstGeom>
            <a:noFill/>
            <a:ln>
              <a:noFill/>
            </a:ln>
          </p:spPr>
        </p:pic>
        <p:pic>
          <p:nvPicPr>
            <p:cNvPr id="172" name="Google Shape;172;p1" title="lr_logs.png"/>
            <p:cNvPicPr preferRelativeResize="0"/>
            <p:nvPr/>
          </p:nvPicPr>
          <p:blipFill>
            <a:blip r:embed="rId23">
              <a:alphaModFix/>
            </a:blip>
            <a:stretch>
              <a:fillRect/>
            </a:stretch>
          </p:blipFill>
          <p:spPr>
            <a:xfrm>
              <a:off x="36141288" y="23983518"/>
              <a:ext cx="5458551" cy="4109046"/>
            </a:xfrm>
            <a:prstGeom prst="rect">
              <a:avLst/>
            </a:prstGeom>
            <a:noFill/>
            <a:ln>
              <a:noFill/>
            </a:ln>
          </p:spPr>
        </p:pic>
        <p:sp>
          <p:nvSpPr>
            <p:cNvPr id="173" name="Google Shape;173;p1"/>
            <p:cNvSpPr txBox="1"/>
            <p:nvPr/>
          </p:nvSpPr>
          <p:spPr>
            <a:xfrm>
              <a:off x="35319944" y="27963323"/>
              <a:ext cx="7705200" cy="515400"/>
            </a:xfrm>
            <a:prstGeom prst="rect">
              <a:avLst/>
            </a:prstGeom>
            <a:noFill/>
            <a:ln>
              <a:noFill/>
            </a:ln>
          </p:spPr>
          <p:txBody>
            <a:bodyPr anchorCtr="0" anchor="t" bIns="26325" lIns="26325" spcFirstLastPara="1" rIns="26325" wrap="square" tIns="26325">
              <a:noAutofit/>
            </a:bodyPr>
            <a:lstStyle/>
            <a:p>
              <a:pPr indent="0" lvl="0" marL="0" rtl="0" algn="ctr">
                <a:spcBef>
                  <a:spcPts val="0"/>
                </a:spcBef>
                <a:spcAft>
                  <a:spcPts val="0"/>
                </a:spcAft>
                <a:buNone/>
              </a:pPr>
              <a:r>
                <a:rPr b="1" lang="en-US" sz="2400"/>
                <a:t>Figure 7: AE and Discriminator </a:t>
              </a:r>
              <a:r>
                <a:rPr b="1" lang="en-US" sz="2400"/>
                <a:t>learning</a:t>
              </a:r>
              <a:r>
                <a:rPr b="1" lang="en-US" sz="2400"/>
                <a:t> rates</a:t>
              </a:r>
              <a:endParaRPr b="1" sz="2400">
                <a:solidFill>
                  <a:srgbClr val="000000"/>
                </a:solidFill>
              </a:endParaRPr>
            </a:p>
          </p:txBody>
        </p:sp>
        <p:sp>
          <p:nvSpPr>
            <p:cNvPr id="174" name="Google Shape;174;p1"/>
            <p:cNvSpPr txBox="1"/>
            <p:nvPr/>
          </p:nvSpPr>
          <p:spPr>
            <a:xfrm>
              <a:off x="35994639" y="19266456"/>
              <a:ext cx="6518400" cy="515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Calibri"/>
                <a:ea typeface="Calibri"/>
                <a:cs typeface="Calibri"/>
                <a:sym typeface="Calibri"/>
              </a:endParaRPr>
            </a:p>
          </p:txBody>
        </p:sp>
        <p:sp>
          <p:nvSpPr>
            <p:cNvPr id="175" name="Google Shape;175;p1"/>
            <p:cNvSpPr txBox="1"/>
            <p:nvPr/>
          </p:nvSpPr>
          <p:spPr>
            <a:xfrm>
              <a:off x="35913339" y="23747716"/>
              <a:ext cx="6518400" cy="515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Calibri"/>
                <a:ea typeface="Calibri"/>
                <a:cs typeface="Calibri"/>
                <a:sym typeface="Calibri"/>
              </a:endParaRPr>
            </a:p>
          </p:txBody>
        </p:sp>
        <p:sp>
          <p:nvSpPr>
            <p:cNvPr id="176" name="Google Shape;176;p1"/>
            <p:cNvSpPr txBox="1"/>
            <p:nvPr/>
          </p:nvSpPr>
          <p:spPr>
            <a:xfrm>
              <a:off x="35401244" y="23555392"/>
              <a:ext cx="7705200" cy="515400"/>
            </a:xfrm>
            <a:prstGeom prst="rect">
              <a:avLst/>
            </a:prstGeom>
            <a:noFill/>
            <a:ln>
              <a:noFill/>
            </a:ln>
          </p:spPr>
          <p:txBody>
            <a:bodyPr anchorCtr="0" anchor="t" bIns="26325" lIns="26325" spcFirstLastPara="1" rIns="26325" wrap="square" tIns="26325">
              <a:noAutofit/>
            </a:bodyPr>
            <a:lstStyle/>
            <a:p>
              <a:pPr indent="0" lvl="0" marL="0" rtl="0" algn="ctr">
                <a:spcBef>
                  <a:spcPts val="0"/>
                </a:spcBef>
                <a:spcAft>
                  <a:spcPts val="0"/>
                </a:spcAft>
                <a:buNone/>
              </a:pPr>
              <a:r>
                <a:rPr b="1" lang="en-US" sz="2400"/>
                <a:t>Figure 6: Discriminator Guesses</a:t>
              </a:r>
              <a:endParaRPr b="1" sz="2400">
                <a:solidFill>
                  <a:srgbClr val="000000"/>
                </a:solidFill>
              </a:endParaRPr>
            </a:p>
          </p:txBody>
        </p:sp>
      </p:grpSp>
      <p:pic>
        <p:nvPicPr>
          <p:cNvPr id="177" name="Google Shape;177;p1"/>
          <p:cNvPicPr preferRelativeResize="0"/>
          <p:nvPr/>
        </p:nvPicPr>
        <p:blipFill>
          <a:blip r:embed="rId24">
            <a:alphaModFix/>
          </a:blip>
          <a:stretch>
            <a:fillRect/>
          </a:stretch>
        </p:blipFill>
        <p:spPr>
          <a:xfrm>
            <a:off x="4658100" y="20350800"/>
            <a:ext cx="12715875" cy="619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phuang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0x010100D62AB284ED1634449D0179C2C6836812</vt:lpwstr>
  </property>
</Properties>
</file>